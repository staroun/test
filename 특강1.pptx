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51"/>
  </p:notesMasterIdLst>
  <p:sldIdLst>
    <p:sldId id="257" r:id="rId2"/>
    <p:sldId id="258" r:id="rId3"/>
    <p:sldId id="314" r:id="rId4"/>
    <p:sldId id="288" r:id="rId5"/>
    <p:sldId id="316" r:id="rId6"/>
    <p:sldId id="315" r:id="rId7"/>
    <p:sldId id="287" r:id="rId8"/>
    <p:sldId id="289" r:id="rId9"/>
    <p:sldId id="290" r:id="rId10"/>
    <p:sldId id="327" r:id="rId11"/>
    <p:sldId id="328" r:id="rId12"/>
    <p:sldId id="293" r:id="rId13"/>
    <p:sldId id="291" r:id="rId14"/>
    <p:sldId id="319" r:id="rId15"/>
    <p:sldId id="295" r:id="rId16"/>
    <p:sldId id="338" r:id="rId17"/>
    <p:sldId id="296" r:id="rId18"/>
    <p:sldId id="297" r:id="rId19"/>
    <p:sldId id="298" r:id="rId20"/>
    <p:sldId id="299" r:id="rId21"/>
    <p:sldId id="300" r:id="rId22"/>
    <p:sldId id="329" r:id="rId23"/>
    <p:sldId id="326" r:id="rId24"/>
    <p:sldId id="292" r:id="rId25"/>
    <p:sldId id="301" r:id="rId26"/>
    <p:sldId id="302" r:id="rId27"/>
    <p:sldId id="303" r:id="rId28"/>
    <p:sldId id="304" r:id="rId29"/>
    <p:sldId id="305" r:id="rId30"/>
    <p:sldId id="330" r:id="rId31"/>
    <p:sldId id="306" r:id="rId32"/>
    <p:sldId id="320" r:id="rId33"/>
    <p:sldId id="331" r:id="rId34"/>
    <p:sldId id="307" r:id="rId35"/>
    <p:sldId id="318" r:id="rId36"/>
    <p:sldId id="308" r:id="rId37"/>
    <p:sldId id="333" r:id="rId38"/>
    <p:sldId id="309" r:id="rId39"/>
    <p:sldId id="310" r:id="rId40"/>
    <p:sldId id="311" r:id="rId41"/>
    <p:sldId id="332" r:id="rId42"/>
    <p:sldId id="312" r:id="rId43"/>
    <p:sldId id="313" r:id="rId44"/>
    <p:sldId id="321" r:id="rId45"/>
    <p:sldId id="334" r:id="rId46"/>
    <p:sldId id="322" r:id="rId47"/>
    <p:sldId id="323" r:id="rId48"/>
    <p:sldId id="324" r:id="rId49"/>
    <p:sldId id="335" r:id="rId50"/>
  </p:sldIdLst>
  <p:sldSz cx="9144000" cy="6858000" type="screen4x3"/>
  <p:notesSz cx="7104063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51" y="67"/>
      </p:cViewPr>
      <p:guideLst>
        <p:guide orient="horz" pos="2160"/>
        <p:guide pos="27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79202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3" tIns="47523" rIns="95073" bIns="47523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203" y="1"/>
            <a:ext cx="3079202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3" tIns="47523" rIns="95073" bIns="47523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075" y="4862265"/>
            <a:ext cx="5683914" cy="460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3" tIns="47523" rIns="95073" bIns="47523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238"/>
            <a:ext cx="3079202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3" tIns="47523" rIns="95073" bIns="47523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203" y="9721238"/>
            <a:ext cx="3079202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3" tIns="47523" rIns="95073" bIns="47523" anchor="b" anchorCtr="0">
            <a:noAutofit/>
          </a:bodyPr>
          <a:lstStyle/>
          <a:p>
            <a:pPr algn="r"/>
            <a:fld id="{00000000-1234-1234-1234-123412341234}" type="slidenum">
              <a:rPr lang="en-US" altLang="ko-KR" sz="1200" smtClean="0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rPr>
              <a:pPr algn="r"/>
              <a:t>‹#›</a:t>
            </a:fld>
            <a:endParaRPr lang="en-US" sz="1200">
              <a:solidFill>
                <a:schemeClr val="dk1"/>
              </a:solidFill>
              <a:latin typeface="Dotum"/>
              <a:ea typeface="Dotum"/>
              <a:cs typeface="Dotum"/>
              <a:sym typeface="Dotum"/>
            </a:endParaRPr>
          </a:p>
        </p:txBody>
      </p:sp>
    </p:spTree>
    <p:extLst>
      <p:ext uri="{BB962C8B-B14F-4D97-AF65-F5344CB8AC3E}">
        <p14:creationId xmlns:p14="http://schemas.microsoft.com/office/powerpoint/2010/main" val="42670263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710075" y="4862265"/>
            <a:ext cx="5683914" cy="4605575"/>
          </a:xfrm>
          <a:prstGeom prst="rect">
            <a:avLst/>
          </a:prstGeom>
        </p:spPr>
        <p:txBody>
          <a:bodyPr spcFirstLastPara="1" wrap="square" lIns="95073" tIns="47523" rIns="95073" bIns="47523" anchor="t" anchorCtr="0">
            <a:noAutofit/>
          </a:bodyPr>
          <a:lstStyle/>
          <a:p>
            <a:pPr marL="0" indent="0">
              <a:spcBef>
                <a:spcPts val="374"/>
              </a:spcBef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3760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710075" y="4862265"/>
            <a:ext cx="5683914" cy="460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073" tIns="47523" rIns="95073" bIns="47523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장제목" userDrawn="1">
  <p:cSld name="1_장제목">
    <p:bg>
      <p:bgPr>
        <a:solidFill>
          <a:srgbClr val="E5C9BB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2416687" y="210544"/>
            <a:ext cx="6397579" cy="5616624"/>
            <a:chOff x="1552591" y="260648"/>
            <a:chExt cx="6397579" cy="5616624"/>
          </a:xfrm>
        </p:grpSpPr>
        <p:grpSp>
          <p:nvGrpSpPr>
            <p:cNvPr id="20" name="Google Shape;20;p3"/>
            <p:cNvGrpSpPr/>
            <p:nvPr/>
          </p:nvGrpSpPr>
          <p:grpSpPr>
            <a:xfrm>
              <a:off x="1552591" y="260648"/>
              <a:ext cx="6397579" cy="5616624"/>
              <a:chOff x="1696607" y="476672"/>
              <a:chExt cx="6397579" cy="5616624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5292080" y="476672"/>
                <a:ext cx="1800200" cy="1224136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078861" y="2739400"/>
                <a:ext cx="1485027" cy="1984858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1842977" y="3519384"/>
                <a:ext cx="1624130" cy="305500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pic>
            <p:nvPicPr>
              <p:cNvPr id="25" name="Google Shape;25;p3"/>
              <p:cNvPicPr preferRelativeResize="0"/>
              <p:nvPr/>
            </p:nvPicPr>
            <p:blipFill rotWithShape="1">
              <a:blip r:embed="rId2">
                <a:alphaModFix/>
              </a:blip>
              <a:srcRect l="33811" t="40211"/>
              <a:stretch/>
            </p:blipFill>
            <p:spPr>
              <a:xfrm>
                <a:off x="3600890" y="1818831"/>
                <a:ext cx="3192285" cy="322787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" name="Google Shape;26;p3"/>
              <p:cNvSpPr/>
              <p:nvPr/>
            </p:nvSpPr>
            <p:spPr>
              <a:xfrm>
                <a:off x="4464560" y="5208434"/>
                <a:ext cx="1907640" cy="884862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3491330" y="3717032"/>
                <a:ext cx="1008112" cy="1264742"/>
              </a:xfrm>
              <a:prstGeom prst="rect">
                <a:avLst/>
              </a:prstGeom>
              <a:solidFill>
                <a:srgbClr val="E5CA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6449995" y="2446975"/>
                <a:ext cx="1644191" cy="393500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1696607" y="3181853"/>
                <a:ext cx="1485027" cy="501828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22877" y="2974796"/>
                <a:ext cx="1485027" cy="501828"/>
              </a:xfrm>
              <a:prstGeom prst="rect">
                <a:avLst/>
              </a:prstGeom>
              <a:solidFill>
                <a:srgbClr val="E5C9B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 strike="noStrike" cap="none">
                  <a:solidFill>
                    <a:schemeClr val="lt1"/>
                  </a:solidFill>
                  <a:latin typeface="Dotum"/>
                  <a:ea typeface="Dotum"/>
                  <a:cs typeface="Dotum"/>
                  <a:sym typeface="Dotum"/>
                </a:endParaRPr>
              </a:p>
            </p:txBody>
          </p:sp>
        </p:grpSp>
        <p:sp>
          <p:nvSpPr>
            <p:cNvPr id="31" name="Google Shape;31;p3"/>
            <p:cNvSpPr/>
            <p:nvPr/>
          </p:nvSpPr>
          <p:spPr>
            <a:xfrm>
              <a:off x="3886528" y="515220"/>
              <a:ext cx="1644191" cy="393500"/>
            </a:xfrm>
            <a:prstGeom prst="rect">
              <a:avLst/>
            </a:prstGeom>
            <a:solidFill>
              <a:srgbClr val="E5C9B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 strike="noStrike" cap="none">
                <a:solidFill>
                  <a:schemeClr val="lt1"/>
                </a:solidFill>
                <a:latin typeface="Dotum"/>
                <a:ea typeface="Dotum"/>
                <a:cs typeface="Dotum"/>
                <a:sym typeface="Dotum"/>
              </a:endParaRPr>
            </a:p>
          </p:txBody>
        </p:sp>
      </p:grpSp>
      <p:sp>
        <p:nvSpPr>
          <p:cNvPr id="17" name="제목 13"/>
          <p:cNvSpPr>
            <a:spLocks noGrp="1"/>
          </p:cNvSpPr>
          <p:nvPr>
            <p:ph type="title"/>
          </p:nvPr>
        </p:nvSpPr>
        <p:spPr>
          <a:xfrm>
            <a:off x="399085" y="5301208"/>
            <a:ext cx="8277371" cy="1125853"/>
          </a:xfrm>
        </p:spPr>
        <p:txBody>
          <a:bodyPr/>
          <a:lstStyle>
            <a:lvl1pPr algn="ctr">
              <a:defRPr sz="2400" b="0">
                <a:solidFill>
                  <a:srgbClr val="3F2E1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413340" y="1434680"/>
            <a:ext cx="401464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ko-KR" sz="4400" b="1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Git</a:t>
            </a:r>
            <a:r>
              <a:rPr lang="en-US" altLang="ko-KR" sz="4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/GitHub</a:t>
            </a:r>
            <a:r>
              <a:rPr lang="ko-KR" altLang="en-US" sz="4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를 활용한 문서 및 프로젝트 관리</a:t>
            </a:r>
            <a:endParaRPr lang="en-US" altLang="ko-KR" sz="4400" b="1" cap="none" spc="0" dirty="0" smtClean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algn="ctr"/>
            <a:r>
              <a:rPr lang="en-US" altLang="ko-KR" sz="4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</a:rPr>
              <a:t>(1)</a:t>
            </a:r>
            <a:endParaRPr lang="en-US" altLang="ko-KR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휴먼명조" panose="02010504000101010101" pitchFamily="2" charset="-127"/>
              <a:ea typeface="휴먼명조" panose="02010504000101010101" pitchFamily="2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이 장에서 만들 프로그램">
  <p:cSld name="1_이 장에서 만들 프로그램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-22448"/>
            <a:ext cx="9144000" cy="634228"/>
          </a:xfrm>
          <a:prstGeom prst="rect">
            <a:avLst/>
          </a:prstGeom>
          <a:solidFill>
            <a:srgbClr val="AD784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8B333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63500" y="51786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  <a:defRPr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63501" y="773705"/>
            <a:ext cx="8963994" cy="566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37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rgbClr val="8B3331"/>
              </a:buClr>
              <a:buSzPts val="2600"/>
              <a:buFont typeface="Noto Sans Symbols"/>
              <a:buChar char="▪"/>
              <a:defRPr sz="2000" b="1"/>
            </a:lvl1pPr>
            <a:lvl2pPr marL="914400" lvl="1" indent="-330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rgbClr val="D99593"/>
              </a:buClr>
              <a:buSzPts val="1600"/>
              <a:buFont typeface="Noto Sans Symbols"/>
              <a:buChar char="▪"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280"/>
              </a:spcBef>
              <a:spcAft>
                <a:spcPts val="0"/>
              </a:spcAft>
              <a:buClr>
                <a:srgbClr val="205867"/>
              </a:buClr>
              <a:buSzPts val="1400"/>
              <a:buFont typeface="Arial"/>
              <a:buChar char="•"/>
              <a:defRPr sz="1400"/>
            </a:lvl3pPr>
            <a:lvl4pPr marL="1828800" lvl="3" indent="-30480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05867"/>
              </a:buClr>
              <a:buSzPts val="1200"/>
              <a:buFont typeface="Malgun Gothic"/>
              <a:buChar char="-"/>
              <a:defRPr sz="1200"/>
            </a:lvl4pPr>
            <a:lvl5pPr marL="2286000" lvl="4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05867"/>
              </a:buClr>
              <a:buSzPts val="1000"/>
              <a:buFont typeface="Arial"/>
              <a:buChar char="»"/>
              <a:defRPr sz="10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en-US" smtClean="0"/>
          </a:p>
          <a:p>
            <a:pPr lvl="1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기본 본문">
  <p:cSld name="2_기본 본문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0" y="-22448"/>
            <a:ext cx="9144000" cy="634228"/>
          </a:xfrm>
          <a:prstGeom prst="rect">
            <a:avLst/>
          </a:prstGeom>
          <a:solidFill>
            <a:srgbClr val="3273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63500" y="51786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algun Gothic"/>
              <a:buNone/>
              <a:defRPr sz="24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63501" y="773705"/>
            <a:ext cx="8963994" cy="566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55600" lvl="0" indent="-261938" algn="l" rtl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rgbClr val="205867"/>
              </a:buClr>
              <a:buSzPts val="2600"/>
              <a:buFont typeface="Noto Sans Symbols"/>
              <a:buChar char="▪"/>
              <a:tabLst>
                <a:tab pos="268288" algn="l"/>
              </a:tabLst>
              <a:defRPr sz="2000" b="1"/>
            </a:lvl1pPr>
            <a:lvl2pPr marL="450850" lvl="1" indent="-1873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05867"/>
              </a:buClr>
              <a:buSzPts val="1600"/>
              <a:buFont typeface="Noto Sans Symbols"/>
              <a:buChar char="▪"/>
              <a:defRPr sz="1800"/>
            </a:lvl2pPr>
            <a:lvl3pPr marL="801688" lvl="2" indent="-263525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rgbClr val="205867"/>
              </a:buClr>
              <a:buSzPts val="1400"/>
              <a:buFont typeface="Arial"/>
              <a:buChar char="•"/>
              <a:defRPr sz="1600"/>
            </a:lvl3pPr>
            <a:lvl4pPr marL="901700" lvl="3" indent="-217488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rgbClr val="205867"/>
              </a:buClr>
              <a:buSzPts val="1200"/>
              <a:buFont typeface="Malgun Gothic"/>
              <a:buChar char="-"/>
              <a:defRPr sz="1400"/>
            </a:lvl4pPr>
            <a:lvl5pPr marL="2286000" lvl="4" indent="-2921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05867"/>
              </a:buClr>
              <a:buSzPts val="1000"/>
              <a:buFont typeface="Arial"/>
              <a:buChar char="»"/>
              <a:defRPr sz="10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lang="en-US" smtClean="0"/>
          </a:p>
          <a:p>
            <a:pPr lvl="1"/>
            <a:endParaRPr lang="en-US" sz="2000" smtClean="0"/>
          </a:p>
          <a:p>
            <a:pPr lvl="2"/>
            <a:endParaRPr lang="en-US" smtClean="0"/>
          </a:p>
          <a:p>
            <a:pPr lvl="3"/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Dotum"/>
                <a:ea typeface="Dotum"/>
                <a:cs typeface="Dotum"/>
                <a:sym typeface="Dotum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inus_Torvalds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git-scm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git-scm.com/book/ko/v2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gitignore.io/" TargetMode="Externa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 sz="2400" dirty="0" smtClean="0"/>
              <a:t>동명대학교 이성운 교수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ko-KR" smtClean="0"/>
              <a:t>Contents</a:t>
            </a:r>
            <a:endParaRPr lang="en-US"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학습목표</a:t>
            </a:r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의 필요성과 특징을 이해한다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을 설치하고 기본 명령어들을 사용할 수 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을 이용하여 파일을 관리할 수 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pPr lvl="1"/>
            <a:endParaRPr lang="ko-KR" altLang="en-US" dirty="0" smtClean="0"/>
          </a:p>
          <a:p>
            <a:pPr lvl="0"/>
            <a:r>
              <a:rPr lang="ko-KR" altLang="en-US" dirty="0" smtClean="0"/>
              <a:t>내용 </a:t>
            </a:r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의 필요성과 특징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명령어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브랜치</a:t>
            </a:r>
            <a:r>
              <a:rPr lang="ko-KR" altLang="en-US" dirty="0" smtClean="0"/>
              <a:t> 생성 및 작업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파일 병합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충돌 해결 및 기록 보기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media.vlpt.us/images/kwonh/post/3f435080-18e2-4c8c-93de-398ec5525218/%EC%BA%A1%EC%B2%9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8" t="4527" r="5318" b="7183"/>
          <a:stretch/>
        </p:blipFill>
        <p:spPr bwMode="auto">
          <a:xfrm>
            <a:off x="4885898" y="3193087"/>
            <a:ext cx="3722882" cy="325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버전 관리 시스템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버전 관리 </a:t>
            </a:r>
            <a:r>
              <a:rPr lang="ko-KR" altLang="en-US" dirty="0" smtClean="0"/>
              <a:t>시스템</a:t>
            </a:r>
            <a:r>
              <a:rPr lang="en-US" altLang="ko-KR" dirty="0" smtClean="0"/>
              <a:t>(VCS: Version Control System)</a:t>
            </a:r>
            <a:endParaRPr lang="en-US" altLang="ko-KR" dirty="0"/>
          </a:p>
          <a:p>
            <a:pPr lvl="1"/>
            <a:r>
              <a:rPr lang="ko-KR" altLang="en-US" dirty="0" smtClean="0"/>
              <a:t>파일의 생성 및 수정에 따른 </a:t>
            </a:r>
            <a:r>
              <a:rPr lang="ko-KR" altLang="en-US" dirty="0"/>
              <a:t>변화를 시간에 따라 기록했다가 나중에 특정 시점의 버전을 다시 </a:t>
            </a:r>
            <a:r>
              <a:rPr lang="ko-KR" altLang="en-US" dirty="0" smtClean="0"/>
              <a:t>볼 </a:t>
            </a:r>
            <a:r>
              <a:rPr lang="ko-KR" altLang="en-US" dirty="0"/>
              <a:t>수 있는 시스템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파일들을 누가</a:t>
            </a:r>
            <a:r>
              <a:rPr lang="en-US" altLang="ko-KR" dirty="0" smtClean="0"/>
              <a:t>,</a:t>
            </a:r>
            <a:r>
              <a:rPr lang="ko-KR" altLang="en-US" dirty="0" smtClean="0"/>
              <a:t> 언제</a:t>
            </a:r>
            <a:r>
              <a:rPr lang="en-US" altLang="ko-KR" dirty="0" smtClean="0"/>
              <a:t>,</a:t>
            </a:r>
            <a:r>
              <a:rPr lang="ko-KR" altLang="en-US" dirty="0" smtClean="0"/>
              <a:t> 어떻게 바꿨는지 기록 기능</a:t>
            </a:r>
          </a:p>
          <a:p>
            <a:pPr lvl="1"/>
            <a:r>
              <a:rPr lang="ko-KR" altLang="en-US" dirty="0" smtClean="0"/>
              <a:t>기록한 내용을 쉽게 조회</a:t>
            </a:r>
          </a:p>
          <a:p>
            <a:pPr lvl="1"/>
            <a:r>
              <a:rPr lang="ko-KR" altLang="en-US" dirty="0" smtClean="0"/>
              <a:t>특정 버전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시점</a:t>
            </a:r>
            <a:r>
              <a:rPr lang="en-US" altLang="ko-KR" dirty="0" smtClean="0"/>
              <a:t>)</a:t>
            </a:r>
            <a:r>
              <a:rPr lang="ko-KR" altLang="en-US" dirty="0" smtClean="0"/>
              <a:t>으로 되돌리고 복구 가능</a:t>
            </a:r>
          </a:p>
          <a:p>
            <a:pPr lvl="1"/>
            <a:r>
              <a:rPr lang="ko-KR" altLang="en-US" dirty="0" smtClean="0"/>
              <a:t>여럿이 함께 개발하고 공유하기 편리한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시스템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070747" y="5936776"/>
            <a:ext cx="1629106" cy="5049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로컬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버전 관리 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86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중앙 집중식 버전 관리 시스템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서버에 문제가 생기면 모든 파일이 사라짐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네트워크에 문제가 생기면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작업에 한계가 발생함</a:t>
            </a:r>
            <a:endParaRPr lang="ko-KR" altLang="en-US" dirty="0"/>
          </a:p>
        </p:txBody>
      </p:sp>
      <p:pic>
        <p:nvPicPr>
          <p:cNvPr id="1028" name="Picture 4" descr="https://media.vlpt.us/images/kwonh/post/25f3c80b-7316-436d-a540-735400d2684d/imag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6"/>
          <a:stretch/>
        </p:blipFill>
        <p:spPr bwMode="auto">
          <a:xfrm>
            <a:off x="2074460" y="1993309"/>
            <a:ext cx="5200934" cy="366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77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media.vlpt.us/images/kwonh/post/43806a8b-6742-4e2e-a6b2-35ded1fb8d48/%EC%BA%A1%EC%B2%98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0" b="4320"/>
          <a:stretch/>
        </p:blipFill>
        <p:spPr bwMode="auto">
          <a:xfrm>
            <a:off x="4176217" y="1233108"/>
            <a:ext cx="4833126" cy="526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분산 버전 관리 시스템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분산 </a:t>
            </a:r>
            <a:r>
              <a:rPr lang="ko-KR" altLang="en-US" dirty="0" smtClean="0"/>
              <a:t>버전 관리 시스템의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장점</a:t>
            </a:r>
            <a:endParaRPr lang="ko-KR" altLang="en-US" b="0" dirty="0"/>
          </a:p>
          <a:p>
            <a:pPr lvl="1"/>
            <a:r>
              <a:rPr lang="ko-KR" altLang="en-US" dirty="0" smtClean="0"/>
              <a:t>서버와 클라이언트에 동일한 </a:t>
            </a:r>
            <a:r>
              <a:rPr lang="ko-KR" altLang="en-US" b="0" dirty="0" smtClean="0"/>
              <a:t>저장소 </a:t>
            </a:r>
            <a:r>
              <a:rPr lang="ko-KR" altLang="en-US" b="0" dirty="0"/>
              <a:t>전부를 </a:t>
            </a:r>
            <a:r>
              <a:rPr lang="ko-KR" altLang="en-US" b="0" dirty="0" smtClean="0"/>
              <a:t>복제</a:t>
            </a:r>
            <a:endParaRPr lang="en-US" altLang="ko-KR" b="0" dirty="0"/>
          </a:p>
          <a:p>
            <a:pPr lvl="1"/>
            <a:r>
              <a:rPr lang="ko-KR" altLang="en-US" b="0" dirty="0" smtClean="0"/>
              <a:t>서버에 </a:t>
            </a:r>
            <a:r>
              <a:rPr lang="ko-KR" altLang="en-US" b="0" dirty="0"/>
              <a:t>문제가 </a:t>
            </a:r>
            <a:r>
              <a:rPr lang="ko-KR" altLang="en-US" b="0" dirty="0" smtClean="0"/>
              <a:t>생기면 클라이언트를 이용해 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r>
              <a:rPr lang="ko-KR" altLang="en-US" b="0" dirty="0" smtClean="0"/>
              <a:t>서버를 복원 가능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네트워크에 문제가 생겨도 </a:t>
            </a:r>
            <a:r>
              <a:rPr lang="ko-KR" altLang="en-US" b="0" dirty="0" smtClean="0"/>
              <a:t>각 로컬 컴퓨터가 </a:t>
            </a:r>
            <a:r>
              <a:rPr lang="en-US" altLang="ko-KR" b="0" dirty="0" smtClean="0"/>
              <a:t/>
            </a:r>
            <a:br>
              <a:rPr lang="en-US" altLang="ko-KR" b="0" dirty="0" smtClean="0"/>
            </a:br>
            <a:r>
              <a:rPr lang="ko-KR" altLang="en-US" b="0" dirty="0" smtClean="0"/>
              <a:t>전체 파일을 가지고 있어</a:t>
            </a:r>
            <a:r>
              <a:rPr lang="en-US" altLang="ko-KR" b="0" dirty="0" smtClean="0"/>
              <a:t>, </a:t>
            </a:r>
            <a:r>
              <a:rPr lang="ko-KR" altLang="en-US" dirty="0" smtClean="0"/>
              <a:t>많은 작업이 가능함</a:t>
            </a:r>
            <a:endParaRPr lang="en-US" altLang="ko-KR" b="0" dirty="0"/>
          </a:p>
          <a:p>
            <a:pPr lvl="1"/>
            <a:r>
              <a:rPr lang="ko-KR" altLang="en-US" b="0" dirty="0" smtClean="0"/>
              <a:t>동시에 많은 사람들이 협업이 가능하며</a:t>
            </a:r>
            <a:r>
              <a:rPr lang="en-US" altLang="ko-KR" b="0" dirty="0" smtClean="0"/>
              <a:t>,</a:t>
            </a:r>
            <a:br>
              <a:rPr lang="en-US" altLang="ko-KR" b="0" dirty="0" smtClean="0"/>
            </a:br>
            <a:r>
              <a:rPr lang="ko-KR" altLang="en-US" b="0" dirty="0" smtClean="0"/>
              <a:t>서버 시스템에 부하가 적음</a:t>
            </a:r>
            <a:endParaRPr lang="en-US" altLang="ko-KR" b="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74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분산 버전 관리 시스템 중의 하나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2005</a:t>
            </a:r>
            <a:r>
              <a:rPr lang="ko-KR" altLang="en-US" dirty="0" smtClean="0"/>
              <a:t>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리눅스 커널 개발자인 </a:t>
            </a:r>
            <a:r>
              <a:rPr lang="ko-KR" altLang="en-US" dirty="0" err="1" smtClean="0"/>
              <a:t>리누스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토발즈가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주 만에 만듦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분산 환경에서 빠르고 효율적으로 수많은 동시적인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작업들을 수행할 수 있도록 만들어짐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Git</a:t>
            </a:r>
            <a:r>
              <a:rPr lang="ko-KR" altLang="en-US" dirty="0" smtClean="0"/>
              <a:t>의 장점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 세계의 수많은 사용자가 사용 중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Git</a:t>
            </a:r>
            <a:r>
              <a:rPr lang="ko-KR" altLang="en-US" dirty="0" smtClean="0"/>
              <a:t>을 사용한 저장소를 공유할 수 있는 </a:t>
            </a:r>
            <a:r>
              <a:rPr lang="en-US" altLang="ko-KR" dirty="0" smtClean="0"/>
              <a:t>GitHub </a:t>
            </a:r>
            <a:r>
              <a:rPr lang="ko-KR" altLang="en-US" dirty="0" smtClean="0"/>
              <a:t>웹사이트 존재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수많은 </a:t>
            </a:r>
            <a:r>
              <a:rPr lang="ko-KR" altLang="en-US" dirty="0" err="1" smtClean="0"/>
              <a:t>튜토리얼과</a:t>
            </a:r>
            <a:r>
              <a:rPr lang="ko-KR" altLang="en-US" dirty="0" smtClean="0"/>
              <a:t> 프로젝트 존재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971" y="3947161"/>
            <a:ext cx="1512373" cy="2315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3678823" y="6056330"/>
            <a:ext cx="3538148" cy="2970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ko-KR" u="sng" dirty="0">
                <a:solidFill>
                  <a:srgbClr val="0000FF"/>
                </a:solidFill>
                <a:latin typeface="Arial" panose="020B0604020202020204" pitchFamily="34" charset="0"/>
                <a:ea typeface="굴림" panose="020B0600000101010101" pitchFamily="50" charset="-127"/>
                <a:hlinkClick r:id="rId3"/>
              </a:rPr>
              <a:t>http://en.wikipedia.org/wiki/Linus_Torvalds</a:t>
            </a:r>
            <a:endParaRPr lang="en-US" altLang="ko-KR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556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ko-KR" altLang="en-US" dirty="0"/>
              <a:t>의 특징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사실상 </a:t>
            </a:r>
            <a:r>
              <a:rPr lang="ko-KR" altLang="en-US" dirty="0"/>
              <a:t>버전 관리 </a:t>
            </a:r>
            <a:r>
              <a:rPr lang="ko-KR" altLang="en-US" dirty="0" smtClean="0"/>
              <a:t>시스템의 표준</a:t>
            </a:r>
          </a:p>
          <a:p>
            <a:pPr lvl="1"/>
            <a:r>
              <a:rPr lang="ko-KR" altLang="en-US" dirty="0" smtClean="0"/>
              <a:t>완전한 분산 버전 관리 시스템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가볍고 빠르고 효율적</a:t>
            </a:r>
          </a:p>
          <a:p>
            <a:pPr lvl="1"/>
            <a:r>
              <a:rPr lang="ko-KR" altLang="en-US" dirty="0" smtClean="0"/>
              <a:t>서버와 클라이언트의 저장소에 각각 완전한 사본을 저장하고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거의 모든 작업을 로컬에서 할 수 있음</a:t>
            </a:r>
          </a:p>
          <a:p>
            <a:pPr lvl="1"/>
            <a:r>
              <a:rPr lang="ko-KR" altLang="en-US" dirty="0" smtClean="0"/>
              <a:t>강력한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기능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266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72820"/>
          <a:stretch/>
        </p:blipFill>
        <p:spPr>
          <a:xfrm>
            <a:off x="3956050" y="4804013"/>
            <a:ext cx="4781550" cy="12711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96" y="1861360"/>
            <a:ext cx="4370563" cy="297331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en-US" altLang="ko-KR" dirty="0">
                <a:hlinkClick r:id="rId4"/>
              </a:rPr>
              <a:t>http://</a:t>
            </a:r>
            <a:r>
              <a:rPr lang="en-US" altLang="ko-KR" dirty="0" smtClean="0">
                <a:hlinkClick r:id="rId4"/>
              </a:rPr>
              <a:t>git-scm.com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각 설치 단계에서 기본 설정으로 설치</a:t>
            </a:r>
            <a:endParaRPr lang="en-US" altLang="ko-KR" dirty="0" smtClean="0"/>
          </a:p>
        </p:txBody>
      </p:sp>
      <p:sp>
        <p:nvSpPr>
          <p:cNvPr id="37" name="타원 36"/>
          <p:cNvSpPr/>
          <p:nvPr/>
        </p:nvSpPr>
        <p:spPr>
          <a:xfrm>
            <a:off x="3603009" y="3807726"/>
            <a:ext cx="1285331" cy="902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4152581" y="5650176"/>
            <a:ext cx="2575765" cy="425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24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매뉴얼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http://git-scm.com/book/ko/v2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922" y="1446237"/>
            <a:ext cx="7006406" cy="499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1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실행 및 기본 설정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윈도우시작메뉴 </a:t>
            </a:r>
            <a:r>
              <a:rPr lang="en-US" altLang="ko-KR" dirty="0"/>
              <a:t>– </a:t>
            </a:r>
            <a:r>
              <a:rPr lang="en-US" altLang="ko-KR" dirty="0" err="1"/>
              <a:t>Git</a:t>
            </a:r>
            <a:r>
              <a:rPr lang="en-US" altLang="ko-KR" dirty="0"/>
              <a:t> – </a:t>
            </a:r>
            <a:r>
              <a:rPr lang="en-US" altLang="ko-KR" dirty="0" err="1"/>
              <a:t>Git</a:t>
            </a:r>
            <a:r>
              <a:rPr lang="en-US" altLang="ko-KR" dirty="0"/>
              <a:t> bash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사용자 </a:t>
            </a:r>
            <a:r>
              <a:rPr lang="ko-KR" altLang="en-US" dirty="0"/>
              <a:t>이름과 이메일 설정</a:t>
            </a:r>
            <a:endParaRPr lang="en-US" altLang="ko-KR" dirty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en-US" altLang="ko-KR" dirty="0" err="1"/>
              <a:t>config</a:t>
            </a:r>
            <a:r>
              <a:rPr lang="en-US" altLang="ko-KR" dirty="0"/>
              <a:t> --global user.name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사용자명</a:t>
            </a:r>
            <a:r>
              <a:rPr lang="en-US" altLang="ko-KR" dirty="0"/>
              <a:t>"</a:t>
            </a:r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en-US" altLang="ko-KR" dirty="0" err="1"/>
              <a:t>config</a:t>
            </a:r>
            <a:r>
              <a:rPr lang="en-US" altLang="ko-KR" dirty="0"/>
              <a:t> --global </a:t>
            </a:r>
            <a:r>
              <a:rPr lang="en-US" altLang="ko-KR" dirty="0" err="1"/>
              <a:t>user.email</a:t>
            </a:r>
            <a:r>
              <a:rPr lang="en-US" altLang="ko-KR" dirty="0"/>
              <a:t> "</a:t>
            </a:r>
            <a:r>
              <a:rPr lang="ko-KR" altLang="en-US" dirty="0" err="1"/>
              <a:t>이메일주소</a:t>
            </a:r>
            <a:r>
              <a:rPr lang="en-US" altLang="ko-KR" dirty="0"/>
              <a:t>”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37275"/>
          <a:stretch/>
        </p:blipFill>
        <p:spPr>
          <a:xfrm>
            <a:off x="945498" y="1758445"/>
            <a:ext cx="7200000" cy="1134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8" y="4612375"/>
            <a:ext cx="7200000" cy="12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20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en-US" altLang="ko-KR" dirty="0" smtClean="0"/>
              <a:t>. </a:t>
            </a:r>
            <a:r>
              <a:rPr lang="ko-KR" altLang="en-US" dirty="0" smtClean="0"/>
              <a:t>자신의 컴퓨터에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다운해</a:t>
            </a:r>
            <a:r>
              <a:rPr lang="ko-KR" altLang="en-US" dirty="0" smtClean="0"/>
              <a:t> 설치한 후 </a:t>
            </a:r>
            <a:r>
              <a:rPr lang="ko-KR" altLang="en-US" dirty="0" err="1" smtClean="0"/>
              <a:t>실행하시오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에 자신의 이름과 이메일을 </a:t>
            </a:r>
            <a:r>
              <a:rPr lang="ko-KR" altLang="en-US" dirty="0" err="1" smtClean="0"/>
              <a:t>설정하시오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332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 smtClean="0"/>
              <a:t>흐름 및 작업 순서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전체 작업 흐름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전체</a:t>
            </a:r>
            <a:r>
              <a:rPr lang="en-US" altLang="ko-KR" dirty="0"/>
              <a:t> </a:t>
            </a:r>
            <a:r>
              <a:rPr lang="ko-KR" altLang="en-US" dirty="0" smtClean="0"/>
              <a:t>작업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로컬에 저장소 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저장소에 </a:t>
            </a:r>
            <a:r>
              <a:rPr lang="ko-KR" altLang="en-US" dirty="0"/>
              <a:t>파일 생성 및 추가</a:t>
            </a:r>
            <a:endParaRPr lang="en-US" altLang="ko-KR" dirty="0"/>
          </a:p>
          <a:p>
            <a:pPr lvl="1"/>
            <a:r>
              <a:rPr lang="ko-KR" altLang="en-US" dirty="0" smtClean="0"/>
              <a:t>파일의 수정</a:t>
            </a:r>
            <a:r>
              <a:rPr lang="en-US" altLang="ko-KR" dirty="0"/>
              <a:t> </a:t>
            </a:r>
            <a:r>
              <a:rPr lang="ko-KR" altLang="en-US" dirty="0" smtClean="0"/>
              <a:t>및 제출</a:t>
            </a:r>
            <a:endParaRPr lang="en-US" altLang="ko-KR" dirty="0"/>
          </a:p>
          <a:p>
            <a:pPr lvl="1"/>
            <a:r>
              <a:rPr lang="ko-KR" altLang="en-US" dirty="0"/>
              <a:t>기본</a:t>
            </a:r>
            <a:r>
              <a:rPr lang="en-US" altLang="ko-KR" dirty="0"/>
              <a:t>(master) </a:t>
            </a:r>
            <a:r>
              <a:rPr lang="ko-KR" altLang="en-US" dirty="0" err="1"/>
              <a:t>브랜치에</a:t>
            </a:r>
            <a:r>
              <a:rPr lang="ko-KR" altLang="en-US" dirty="0"/>
              <a:t> 영향을 주지 않는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r>
              <a:rPr lang="ko-KR" altLang="en-US" dirty="0" err="1"/>
              <a:t>브랜치</a:t>
            </a:r>
            <a:r>
              <a:rPr lang="ko-KR" altLang="en-US" dirty="0"/>
              <a:t> 병합</a:t>
            </a:r>
            <a:endParaRPr lang="en-US" altLang="ko-KR" dirty="0"/>
          </a:p>
          <a:p>
            <a:pPr lvl="1"/>
            <a:r>
              <a:rPr lang="ko-KR" altLang="en-US" dirty="0"/>
              <a:t>충돌 해결</a:t>
            </a:r>
            <a:endParaRPr lang="en-US" altLang="ko-KR" dirty="0"/>
          </a:p>
          <a:p>
            <a:pPr lvl="1"/>
            <a:r>
              <a:rPr lang="ko-KR" altLang="en-US" dirty="0"/>
              <a:t>저장소 기록 보기</a:t>
            </a:r>
          </a:p>
          <a:p>
            <a:endParaRPr lang="en-US" altLang="ko-KR" dirty="0" smtClean="0"/>
          </a:p>
        </p:txBody>
      </p:sp>
      <p:sp>
        <p:nvSpPr>
          <p:cNvPr id="4" name="타원 3"/>
          <p:cNvSpPr/>
          <p:nvPr/>
        </p:nvSpPr>
        <p:spPr>
          <a:xfrm>
            <a:off x="586853" y="1392067"/>
            <a:ext cx="955343" cy="55955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2065548" y="1392067"/>
            <a:ext cx="955343" cy="55955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3544243" y="1392067"/>
            <a:ext cx="955343" cy="55955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7160900" y="1392067"/>
            <a:ext cx="955343" cy="55955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4745247" y="2297038"/>
            <a:ext cx="955343" cy="55955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6110023" y="2297038"/>
            <a:ext cx="955343" cy="55955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C4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4" idx="6"/>
            <a:endCxn id="5" idx="2"/>
          </p:cNvCxnSpPr>
          <p:nvPr/>
        </p:nvCxnSpPr>
        <p:spPr>
          <a:xfrm>
            <a:off x="1542196" y="1671846"/>
            <a:ext cx="5233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5" idx="6"/>
            <a:endCxn id="6" idx="2"/>
          </p:cNvCxnSpPr>
          <p:nvPr/>
        </p:nvCxnSpPr>
        <p:spPr>
          <a:xfrm>
            <a:off x="3020891" y="1671846"/>
            <a:ext cx="52335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6" idx="6"/>
            <a:endCxn id="7" idx="2"/>
          </p:cNvCxnSpPr>
          <p:nvPr/>
        </p:nvCxnSpPr>
        <p:spPr>
          <a:xfrm>
            <a:off x="4499586" y="1671846"/>
            <a:ext cx="266131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8" idx="6"/>
            <a:endCxn id="9" idx="2"/>
          </p:cNvCxnSpPr>
          <p:nvPr/>
        </p:nvCxnSpPr>
        <p:spPr>
          <a:xfrm>
            <a:off x="5700590" y="2576817"/>
            <a:ext cx="40943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6" idx="5"/>
            <a:endCxn id="8" idx="1"/>
          </p:cNvCxnSpPr>
          <p:nvPr/>
        </p:nvCxnSpPr>
        <p:spPr>
          <a:xfrm>
            <a:off x="4359679" y="1869680"/>
            <a:ext cx="525475" cy="509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9" idx="7"/>
            <a:endCxn id="7" idx="3"/>
          </p:cNvCxnSpPr>
          <p:nvPr/>
        </p:nvCxnSpPr>
        <p:spPr>
          <a:xfrm flipV="1">
            <a:off x="6925459" y="1869680"/>
            <a:ext cx="375348" cy="5093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3612" y="1962022"/>
            <a:ext cx="12795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완료</a:t>
            </a:r>
            <a:r>
              <a:rPr lang="en-US" altLang="ko-KR" dirty="0" smtClean="0"/>
              <a:t>(Commit)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361694" y="1962022"/>
            <a:ext cx="1311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err="1" smtClean="0"/>
              <a:t>새브랜치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3500" y="1272486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</a:t>
            </a:r>
            <a:r>
              <a:rPr lang="en-US" altLang="ko-KR" dirty="0" smtClean="0"/>
              <a:t>aster 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475685" y="2922286"/>
            <a:ext cx="1569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새브랜치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Commit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072103" y="1967697"/>
            <a:ext cx="1944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</a:t>
            </a:r>
            <a:r>
              <a:rPr lang="en-US" altLang="ko-KR" dirty="0" smtClean="0"/>
              <a:t>aster</a:t>
            </a:r>
            <a:r>
              <a:rPr lang="ko-KR" altLang="en-US" dirty="0" smtClean="0"/>
              <a:t>에 병합</a:t>
            </a:r>
            <a:r>
              <a:rPr lang="en-US" altLang="ko-KR" dirty="0" smtClean="0"/>
              <a:t>(Merge)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69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명령어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기본 작업 과정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저장소 사용에 필요한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명령어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66842"/>
              </p:ext>
            </p:extLst>
          </p:nvPr>
        </p:nvGraphicFramePr>
        <p:xfrm>
          <a:off x="718778" y="4153851"/>
          <a:ext cx="7592709" cy="1823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382">
                  <a:extLst>
                    <a:ext uri="{9D8B030D-6E8A-4147-A177-3AD203B41FA5}">
                      <a16:colId xmlns:a16="http://schemas.microsoft.com/office/drawing/2014/main" val="1979929853"/>
                    </a:ext>
                  </a:extLst>
                </a:gridCol>
                <a:gridCol w="5661327">
                  <a:extLst>
                    <a:ext uri="{9D8B030D-6E8A-4147-A177-3AD203B41FA5}">
                      <a16:colId xmlns:a16="http://schemas.microsoft.com/office/drawing/2014/main" val="1767566315"/>
                    </a:ext>
                  </a:extLst>
                </a:gridCol>
              </a:tblGrid>
              <a:tr h="3647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명령어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34750"/>
                  </a:ext>
                </a:extLst>
              </a:tr>
              <a:tr h="364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en-US" altLang="ko-KR" sz="1600" dirty="0" err="1" smtClean="0"/>
                        <a:t>init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실행한 위치를 </a:t>
                      </a:r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저장소로 초기화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36657"/>
                  </a:ext>
                </a:extLst>
              </a:tr>
              <a:tr h="364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add</a:t>
                      </a:r>
                      <a:r>
                        <a:rPr lang="ko-KR" altLang="en-US" sz="1600" dirty="0" smtClean="0"/>
                        <a:t> 파일명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해당 파일을 </a:t>
                      </a:r>
                      <a:r>
                        <a:rPr lang="en-US" altLang="ko-KR" sz="1600" dirty="0" err="1" smtClean="0"/>
                        <a:t>Git</a:t>
                      </a:r>
                      <a:r>
                        <a:rPr lang="ko-KR" altLang="en-US" sz="1600" dirty="0" smtClean="0"/>
                        <a:t>이 추적할 수 있게 저장소에 추가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955782"/>
                  </a:ext>
                </a:extLst>
              </a:tr>
              <a:tr h="364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commit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변경된 파일을 저장소에 제출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192461"/>
                  </a:ext>
                </a:extLst>
              </a:tr>
              <a:tr h="3647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status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현재 저장소의 상태를 출력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262020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4462813" y="787112"/>
            <a:ext cx="1061292" cy="5091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저장소 </a:t>
            </a:r>
            <a:r>
              <a:rPr lang="ko-KR" altLang="en-US" dirty="0" smtClean="0">
                <a:solidFill>
                  <a:schemeClr val="tx1"/>
                </a:solidFill>
              </a:rPr>
              <a:t>생성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462812" y="1802788"/>
            <a:ext cx="1061292" cy="5091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파일생성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384944" y="2804384"/>
            <a:ext cx="1370698" cy="5091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저장소에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파일 추가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34519" y="2804384"/>
            <a:ext cx="1392391" cy="50912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저장소에 </a:t>
            </a:r>
            <a:r>
              <a:rPr lang="en-US" altLang="ko-KR" dirty="0" smtClean="0">
                <a:solidFill>
                  <a:schemeClr val="tx1"/>
                </a:solidFill>
              </a:rPr>
              <a:t/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ko-KR" altLang="en-US" dirty="0" smtClean="0">
                <a:solidFill>
                  <a:schemeClr val="tx1"/>
                </a:solidFill>
              </a:rPr>
              <a:t>파일 제출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>
            <a:stCxn id="7" idx="2"/>
            <a:endCxn id="8" idx="0"/>
          </p:cNvCxnSpPr>
          <p:nvPr/>
        </p:nvCxnSpPr>
        <p:spPr>
          <a:xfrm flipH="1">
            <a:off x="4993458" y="1296239"/>
            <a:ext cx="1" cy="5065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endCxn id="9" idx="0"/>
          </p:cNvCxnSpPr>
          <p:nvPr/>
        </p:nvCxnSpPr>
        <p:spPr>
          <a:xfrm>
            <a:off x="5322622" y="2333761"/>
            <a:ext cx="747671" cy="4706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9" idx="1"/>
            <a:endCxn id="10" idx="3"/>
          </p:cNvCxnSpPr>
          <p:nvPr/>
        </p:nvCxnSpPr>
        <p:spPr>
          <a:xfrm flipH="1">
            <a:off x="4626910" y="3058948"/>
            <a:ext cx="75803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4127972" y="2311915"/>
            <a:ext cx="624093" cy="4924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5526369" y="856756"/>
            <a:ext cx="6527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817964" y="2905058"/>
            <a:ext cx="13099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ko-KR" dirty="0" err="1"/>
              <a:t>git</a:t>
            </a:r>
            <a:r>
              <a:rPr lang="en-US" altLang="ko-KR" dirty="0"/>
              <a:t> add</a:t>
            </a:r>
            <a:r>
              <a:rPr lang="ko-KR" altLang="en-US" dirty="0"/>
              <a:t> 파일명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551769" y="1885456"/>
            <a:ext cx="10518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ko-KR" dirty="0" smtClean="0"/>
              <a:t>vim </a:t>
            </a:r>
            <a:r>
              <a:rPr lang="ko-KR" altLang="en-US" dirty="0" smtClean="0"/>
              <a:t>파일명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2255617" y="2905057"/>
            <a:ext cx="10005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ko-KR" dirty="0" err="1"/>
              <a:t>git</a:t>
            </a:r>
            <a:r>
              <a:rPr lang="en-US" altLang="ko-KR" dirty="0"/>
              <a:t> commit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650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기본 명령어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UNIX / Linux </a:t>
            </a:r>
            <a:r>
              <a:rPr lang="ko-KR" altLang="en-US" dirty="0"/>
              <a:t>명령어 사용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실습 디렉토리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mkdir</a:t>
            </a:r>
            <a:r>
              <a:rPr lang="en-US" altLang="ko-KR" dirty="0" smtClean="0"/>
              <a:t> example            // example </a:t>
            </a:r>
            <a:r>
              <a:rPr lang="ko-KR" altLang="en-US" dirty="0" smtClean="0"/>
              <a:t>폴더 생성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향후 프로젝트 저장소로 사용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bash</a:t>
            </a:r>
            <a:r>
              <a:rPr lang="ko-KR" altLang="en-US" dirty="0" smtClean="0"/>
              <a:t>의 기본 경로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‘C:\</a:t>
            </a:r>
            <a:r>
              <a:rPr lang="ko-KR" altLang="en-US" dirty="0" smtClean="0"/>
              <a:t>사용자</a:t>
            </a:r>
            <a:r>
              <a:rPr lang="en-US" altLang="ko-KR" dirty="0" smtClean="0"/>
              <a:t>\</a:t>
            </a:r>
            <a:r>
              <a:rPr lang="ko-KR" altLang="en-US" dirty="0" smtClean="0"/>
              <a:t>사용자이름</a:t>
            </a:r>
            <a:r>
              <a:rPr lang="en-US" altLang="ko-KR" dirty="0" smtClean="0"/>
              <a:t>‘     // </a:t>
            </a:r>
            <a:r>
              <a:rPr lang="ko-KR" altLang="en-US" dirty="0" smtClean="0"/>
              <a:t>이 기본 폴더에 </a:t>
            </a:r>
            <a:r>
              <a:rPr lang="en-US" altLang="ko-KR" dirty="0" smtClean="0"/>
              <a:t>example </a:t>
            </a:r>
            <a:r>
              <a:rPr lang="ko-KR" altLang="en-US" dirty="0" smtClean="0"/>
              <a:t>폴더가 생성됨</a:t>
            </a:r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6253"/>
              </p:ext>
            </p:extLst>
          </p:nvPr>
        </p:nvGraphicFramePr>
        <p:xfrm>
          <a:off x="718778" y="1301468"/>
          <a:ext cx="7660947" cy="2205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23">
                  <a:extLst>
                    <a:ext uri="{9D8B030D-6E8A-4147-A177-3AD203B41FA5}">
                      <a16:colId xmlns:a16="http://schemas.microsoft.com/office/drawing/2014/main" val="1979929853"/>
                    </a:ext>
                  </a:extLst>
                </a:gridCol>
                <a:gridCol w="5478624">
                  <a:extLst>
                    <a:ext uri="{9D8B030D-6E8A-4147-A177-3AD203B41FA5}">
                      <a16:colId xmlns:a16="http://schemas.microsoft.com/office/drawing/2014/main" val="1767566315"/>
                    </a:ext>
                  </a:extLst>
                </a:gridCol>
              </a:tblGrid>
              <a:tr h="36750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명령어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34750"/>
                  </a:ext>
                </a:extLst>
              </a:tr>
              <a:tr h="3675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pwd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현재 폴더 위치를 보여줌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36657"/>
                  </a:ext>
                </a:extLst>
              </a:tr>
              <a:tr h="367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mkdir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err="1" smtClean="0"/>
                        <a:t>디렉토리명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새로운 디렉토리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폴더</a:t>
                      </a:r>
                      <a:r>
                        <a:rPr lang="en-US" altLang="ko-KR" sz="1600" dirty="0" smtClean="0"/>
                        <a:t>) ‘</a:t>
                      </a:r>
                      <a:r>
                        <a:rPr lang="ko-KR" altLang="en-US" sz="1600" dirty="0" err="1" smtClean="0"/>
                        <a:t>디렉토리명</a:t>
                      </a:r>
                      <a:r>
                        <a:rPr lang="en-US" altLang="ko-KR" sz="1600" dirty="0" smtClean="0"/>
                        <a:t>＇</a:t>
                      </a:r>
                      <a:r>
                        <a:rPr lang="ko-KR" altLang="en-US" sz="1600" dirty="0" smtClean="0"/>
                        <a:t>을 생성</a:t>
                      </a:r>
                      <a:r>
                        <a:rPr lang="en-US" altLang="ko-KR" sz="1600" dirty="0" smtClean="0"/>
                        <a:t> </a:t>
                      </a:r>
                      <a:endParaRPr lang="ko-KR" altLang="en-US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326712"/>
                  </a:ext>
                </a:extLst>
              </a:tr>
              <a:tr h="3675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cat </a:t>
                      </a:r>
                      <a:r>
                        <a:rPr lang="ko-KR" altLang="en-US" sz="1600" dirty="0" smtClean="0"/>
                        <a:t>파일명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화면에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파일명</a:t>
                      </a:r>
                      <a:r>
                        <a:rPr lang="en-US" altLang="ko-KR" sz="1600" dirty="0" smtClean="0"/>
                        <a:t>’</a:t>
                      </a:r>
                      <a:r>
                        <a:rPr lang="ko-KR" altLang="en-US" sz="1600" dirty="0" smtClean="0"/>
                        <a:t>의 내용을 출력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955782"/>
                  </a:ext>
                </a:extLst>
              </a:tr>
              <a:tr h="3675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ls -al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현재 폴더의 전체 내용을 자세하게 보여줌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192461"/>
                  </a:ext>
                </a:extLst>
              </a:tr>
              <a:tr h="3675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cd </a:t>
                      </a:r>
                      <a:r>
                        <a:rPr lang="ko-KR" altLang="en-US" sz="1600" dirty="0" err="1" smtClean="0"/>
                        <a:t>디렉토리명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디렉토리명으로 이동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262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4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2776179"/>
            <a:ext cx="7200000" cy="3600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기본 명령어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저장소 초기화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cd example      // </a:t>
            </a:r>
            <a:r>
              <a:rPr lang="ko-KR" altLang="en-US" dirty="0" smtClean="0"/>
              <a:t>폴더 이동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           // example</a:t>
            </a:r>
            <a:r>
              <a:rPr lang="ko-KR" altLang="en-US" dirty="0" smtClean="0"/>
              <a:t>을 저장소로 </a:t>
            </a:r>
            <a:r>
              <a:rPr lang="ko-KR" altLang="en-US" dirty="0" err="1" smtClean="0"/>
              <a:t>초기화시켜줌</a:t>
            </a:r>
            <a:r>
              <a:rPr lang="en-US" altLang="ko-KR" dirty="0" smtClean="0"/>
              <a:t>, ‘.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폴더를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ls                  // </a:t>
            </a:r>
            <a:r>
              <a:rPr lang="ko-KR" altLang="en-US" dirty="0" smtClean="0"/>
              <a:t>현재 폴더의 내용을 파일명만 보여줌</a:t>
            </a:r>
            <a:endParaRPr lang="en-US" altLang="ko-KR" dirty="0" smtClean="0"/>
          </a:p>
          <a:p>
            <a:pPr lvl="1"/>
            <a:r>
              <a:rPr lang="en-US" altLang="ko-KR" dirty="0"/>
              <a:t>$ ls </a:t>
            </a:r>
            <a:r>
              <a:rPr lang="en-US" altLang="ko-KR" dirty="0" smtClean="0"/>
              <a:t>–al             </a:t>
            </a:r>
            <a:r>
              <a:rPr lang="en-US" altLang="ko-KR" dirty="0"/>
              <a:t>// </a:t>
            </a:r>
            <a:r>
              <a:rPr lang="ko-KR" altLang="en-US" dirty="0"/>
              <a:t>현재 폴더의 내용을 </a:t>
            </a:r>
            <a:r>
              <a:rPr lang="ko-KR" altLang="en-US" dirty="0" smtClean="0"/>
              <a:t>자세히 보여줌</a:t>
            </a:r>
            <a:r>
              <a:rPr lang="en-US" altLang="ko-KR" dirty="0" smtClean="0"/>
              <a:t>, ‘.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폴더를 </a:t>
            </a:r>
            <a:r>
              <a:rPr lang="ko-KR" altLang="en-US" dirty="0" err="1" smtClean="0"/>
              <a:t>볼수</a:t>
            </a:r>
            <a:r>
              <a:rPr lang="ko-KR" altLang="en-US" dirty="0" smtClean="0"/>
              <a:t>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8" name="설명선 1 7"/>
          <p:cNvSpPr/>
          <p:nvPr/>
        </p:nvSpPr>
        <p:spPr>
          <a:xfrm>
            <a:off x="6196085" y="5668373"/>
            <a:ext cx="1037227" cy="612648"/>
          </a:xfrm>
          <a:prstGeom prst="borderCallout1">
            <a:avLst>
              <a:gd name="adj1" fmla="val 18751"/>
              <a:gd name="adj2" fmla="val -870"/>
              <a:gd name="adj3" fmla="val -14478"/>
              <a:gd name="adj4" fmla="val -96934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현재 작업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브랜치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설명선 1 9"/>
          <p:cNvSpPr/>
          <p:nvPr/>
        </p:nvSpPr>
        <p:spPr>
          <a:xfrm>
            <a:off x="7626884" y="4269855"/>
            <a:ext cx="1037227" cy="612648"/>
          </a:xfrm>
          <a:prstGeom prst="borderCallout1">
            <a:avLst>
              <a:gd name="adj1" fmla="val 47710"/>
              <a:gd name="adj2" fmla="val -870"/>
              <a:gd name="adj3" fmla="val 137004"/>
              <a:gd name="adj4" fmla="val -58776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>
                <a:solidFill>
                  <a:schemeClr val="tx1"/>
                </a:solidFill>
              </a:rPr>
              <a:t>브랜치</a:t>
            </a:r>
            <a:r>
              <a:rPr lang="ko-KR" altLang="en-US" sz="1200" dirty="0" smtClean="0">
                <a:solidFill>
                  <a:schemeClr val="tx1"/>
                </a:solidFill>
              </a:rPr>
              <a:t> 설정 저장 폴더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92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필요한 명령어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파일 및 폴더 삭제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rm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파일명             </a:t>
            </a:r>
            <a:r>
              <a:rPr lang="en-US" altLang="ko-KR" dirty="0" smtClean="0"/>
              <a:t>// </a:t>
            </a:r>
            <a:r>
              <a:rPr lang="ko-KR" altLang="en-US" dirty="0" smtClean="0"/>
              <a:t>파일명 삭제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rm</a:t>
            </a:r>
            <a:r>
              <a:rPr lang="en-US" altLang="ko-KR" dirty="0" smtClean="0"/>
              <a:t> *.*                  // </a:t>
            </a:r>
            <a:r>
              <a:rPr lang="ko-KR" altLang="en-US" dirty="0" smtClean="0"/>
              <a:t>현재 폴더의 모든 파일 삭제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rm</a:t>
            </a:r>
            <a:r>
              <a:rPr lang="en-US" altLang="ko-KR" dirty="0" smtClean="0"/>
              <a:t> –r </a:t>
            </a:r>
            <a:r>
              <a:rPr lang="ko-KR" altLang="en-US" dirty="0" err="1" smtClean="0"/>
              <a:t>폴더명</a:t>
            </a:r>
            <a:r>
              <a:rPr lang="en-US" altLang="ko-KR" dirty="0" smtClean="0"/>
              <a:t>         // </a:t>
            </a:r>
            <a:r>
              <a:rPr lang="ko-KR" altLang="en-US" dirty="0" smtClean="0"/>
              <a:t>하위 폴더를 포함하여 폴더 전체를 삭제함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폴더 이동</a:t>
            </a:r>
            <a:endParaRPr lang="en-US" altLang="ko-KR" dirty="0" smtClean="0"/>
          </a:p>
          <a:p>
            <a:pPr lvl="1"/>
            <a:r>
              <a:rPr lang="en-US" altLang="ko-KR" dirty="0"/>
              <a:t>$ </a:t>
            </a:r>
            <a:r>
              <a:rPr lang="en-US" altLang="ko-KR" dirty="0" smtClean="0"/>
              <a:t>cd                      // </a:t>
            </a:r>
            <a:r>
              <a:rPr lang="ko-KR" altLang="en-US" dirty="0" smtClean="0"/>
              <a:t>기본 </a:t>
            </a:r>
            <a:r>
              <a:rPr lang="ko-KR" altLang="en-US" dirty="0"/>
              <a:t>폴더로 이동</a:t>
            </a:r>
            <a:endParaRPr lang="en-US" altLang="ko-KR" dirty="0"/>
          </a:p>
          <a:p>
            <a:pPr lvl="1"/>
            <a:r>
              <a:rPr lang="en-US" altLang="ko-KR" dirty="0" smtClean="0"/>
              <a:t>$ cd ..                    // </a:t>
            </a:r>
            <a:r>
              <a:rPr lang="ko-KR" altLang="en-US" dirty="0" smtClean="0"/>
              <a:t>부모 폴더로 이동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cd </a:t>
            </a:r>
            <a:r>
              <a:rPr lang="ko-KR" altLang="en-US" dirty="0" err="1" smtClean="0"/>
              <a:t>폴더명</a:t>
            </a:r>
            <a:r>
              <a:rPr lang="ko-KR" altLang="en-US" dirty="0" smtClean="0"/>
              <a:t>            </a:t>
            </a:r>
            <a:r>
              <a:rPr lang="en-US" altLang="ko-KR" dirty="0" smtClean="0"/>
              <a:t>// </a:t>
            </a:r>
            <a:r>
              <a:rPr lang="ko-KR" altLang="en-US" dirty="0" smtClean="0"/>
              <a:t>현재 폴더의 하위 폴더로 이동</a:t>
            </a:r>
            <a:endParaRPr lang="en-US" altLang="ko-KR" dirty="0" smtClean="0"/>
          </a:p>
          <a:p>
            <a:pPr lvl="1"/>
            <a:r>
              <a:rPr lang="en-US" altLang="ko-KR" dirty="0"/>
              <a:t>$ cd </a:t>
            </a:r>
            <a:r>
              <a:rPr lang="en-US" altLang="ko-KR" dirty="0" smtClean="0"/>
              <a:t>./</a:t>
            </a:r>
            <a:r>
              <a:rPr lang="ko-KR" altLang="en-US" dirty="0" err="1" smtClean="0"/>
              <a:t>폴더명</a:t>
            </a:r>
            <a:r>
              <a:rPr lang="ko-KR" altLang="en-US" dirty="0" smtClean="0"/>
              <a:t>           </a:t>
            </a:r>
            <a:r>
              <a:rPr lang="en-US" altLang="ko-KR" dirty="0"/>
              <a:t>// </a:t>
            </a:r>
            <a:r>
              <a:rPr lang="ko-KR" altLang="en-US" dirty="0"/>
              <a:t>현재 폴더의 하위 폴더로 이동</a:t>
            </a:r>
            <a:endParaRPr lang="en-US" altLang="ko-KR" dirty="0"/>
          </a:p>
          <a:p>
            <a:pPr lvl="1"/>
            <a:r>
              <a:rPr lang="en-US" altLang="ko-KR" dirty="0" smtClean="0"/>
              <a:t>$ cd /</a:t>
            </a:r>
            <a:r>
              <a:rPr lang="ko-KR" altLang="en-US" dirty="0" err="1" smtClean="0"/>
              <a:t>폴더명</a:t>
            </a:r>
            <a:r>
              <a:rPr lang="en-US" altLang="ko-KR" dirty="0" smtClean="0"/>
              <a:t>          // </a:t>
            </a:r>
            <a:r>
              <a:rPr lang="ko-KR" altLang="en-US" dirty="0" smtClean="0"/>
              <a:t>루트 </a:t>
            </a:r>
            <a:r>
              <a:rPr lang="ko-KR" altLang="en-US" dirty="0" err="1" smtClean="0"/>
              <a:t>폴더아래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폴더명으로</a:t>
            </a:r>
            <a:r>
              <a:rPr lang="ko-KR" altLang="en-US" dirty="0" smtClean="0"/>
              <a:t> 이동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브랜치</a:t>
            </a:r>
            <a:r>
              <a:rPr lang="ko-KR" altLang="en-US" dirty="0" smtClean="0"/>
              <a:t> 삭제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branch –D </a:t>
            </a:r>
            <a:r>
              <a:rPr lang="ko-KR" altLang="en-US" dirty="0" err="1" smtClean="0"/>
              <a:t>브랜치명</a:t>
            </a:r>
            <a:r>
              <a:rPr lang="ko-KR" altLang="en-US" dirty="0" smtClean="0"/>
              <a:t>    </a:t>
            </a:r>
            <a:r>
              <a:rPr lang="en-US" altLang="ko-KR" dirty="0" smtClean="0"/>
              <a:t>// master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수행해야 함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79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기본 명령어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vi/vim </a:t>
            </a:r>
            <a:r>
              <a:rPr lang="ko-KR" altLang="en-US" dirty="0" smtClean="0"/>
              <a:t>편집기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가장 널리 이용되는 유닉스</a:t>
            </a:r>
            <a:r>
              <a:rPr lang="en-US" altLang="ko-KR" dirty="0" smtClean="0"/>
              <a:t>/</a:t>
            </a:r>
            <a:r>
              <a:rPr lang="ko-KR" altLang="en-US" dirty="0" smtClean="0"/>
              <a:t>리눅스 편집기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처음 익히기는 어렵지만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익숙해지면 대단히 편리함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세가지 모드를 가지고 있음</a:t>
            </a:r>
            <a:endParaRPr lang="ko-KR" altLang="en-US" dirty="0"/>
          </a:p>
        </p:txBody>
      </p:sp>
      <p:pic>
        <p:nvPicPr>
          <p:cNvPr id="2050" name="Picture 2" descr="https://media.vlpt.us/images/ieed0205/post/cabaabe0-4fbf-41ad-9592-f18ee9565f9d/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55" y="2479674"/>
            <a:ext cx="7628900" cy="242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/>
          <p:cNvSpPr txBox="1"/>
          <p:nvPr/>
        </p:nvSpPr>
        <p:spPr>
          <a:xfrm>
            <a:off x="786441" y="5002628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자료 입력 가능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84447" y="5002627"/>
            <a:ext cx="23198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최초 또는</a:t>
            </a:r>
            <a:endParaRPr lang="en-US" altLang="ko-KR" dirty="0" smtClean="0"/>
          </a:p>
          <a:p>
            <a:r>
              <a:rPr lang="en-US" altLang="ko-KR" dirty="0" smtClean="0"/>
              <a:t>‘ESC’ </a:t>
            </a:r>
            <a:r>
              <a:rPr lang="ko-KR" altLang="en-US" dirty="0" smtClean="0"/>
              <a:t>키 입력 후 사용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236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Git </a:t>
            </a:r>
            <a:r>
              <a:rPr lang="ko-KR" altLang="en-US" smtClean="0"/>
              <a:t>기본 명령어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vi/vim</a:t>
            </a:r>
            <a:br>
              <a:rPr lang="en-US" altLang="ko-KR" dirty="0" smtClean="0"/>
            </a:br>
            <a:r>
              <a:rPr lang="ko-KR" altLang="en-US" dirty="0" smtClean="0"/>
              <a:t>명령어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662" y="615967"/>
            <a:ext cx="7153836" cy="594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3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기본 명령어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파일 생성 및 저장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vim hello.html    // </a:t>
            </a:r>
            <a:r>
              <a:rPr lang="ko-KR" altLang="en-US" dirty="0" smtClean="0"/>
              <a:t>새 파일을 생성 및 편집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1) ‘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입력하여 내용 입력 시작</a:t>
            </a:r>
            <a:r>
              <a:rPr lang="en-US" altLang="ko-KR" dirty="0" smtClean="0"/>
              <a:t>, 2) ‘ESC’ </a:t>
            </a:r>
            <a:r>
              <a:rPr lang="ko-KR" altLang="en-US" dirty="0" smtClean="0"/>
              <a:t>누르고 </a:t>
            </a:r>
            <a:r>
              <a:rPr lang="en-US" altLang="ko-KR" dirty="0" smtClean="0"/>
              <a:t>‘:</a:t>
            </a:r>
            <a:r>
              <a:rPr lang="en-US" altLang="ko-KR" dirty="0" err="1" smtClean="0"/>
              <a:t>wq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입력 후 </a:t>
            </a:r>
            <a:r>
              <a:rPr lang="ko-KR" altLang="en-US" dirty="0" err="1" smtClean="0"/>
              <a:t>엔터키</a:t>
            </a:r>
            <a:r>
              <a:rPr lang="ko-KR" altLang="en-US" dirty="0" smtClean="0"/>
              <a:t> 눌러 저장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2125785"/>
            <a:ext cx="7200000" cy="250327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t="15125" b="22194"/>
          <a:stretch/>
        </p:blipFill>
        <p:spPr>
          <a:xfrm>
            <a:off x="945498" y="4722122"/>
            <a:ext cx="7200000" cy="14603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설명선 1 7"/>
          <p:cNvSpPr/>
          <p:nvPr/>
        </p:nvSpPr>
        <p:spPr>
          <a:xfrm>
            <a:off x="6196085" y="4839632"/>
            <a:ext cx="1296536" cy="612648"/>
          </a:xfrm>
          <a:prstGeom prst="borderCallout1">
            <a:avLst>
              <a:gd name="adj1" fmla="val 18751"/>
              <a:gd name="adj2" fmla="val -870"/>
              <a:gd name="adj3" fmla="val 30076"/>
              <a:gd name="adj4" fmla="val -348777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현재 폴더 내용을 자세하게 보여줌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2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기본 명령어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저장소 상태 확인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status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생성</a:t>
            </a:r>
            <a:r>
              <a:rPr lang="en-US" altLang="ko-KR" dirty="0" smtClean="0"/>
              <a:t>/</a:t>
            </a:r>
            <a:r>
              <a:rPr lang="ko-KR" altLang="en-US" dirty="0" smtClean="0"/>
              <a:t>수정 파일을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저장소에 추가</a:t>
            </a:r>
            <a:r>
              <a:rPr lang="en-US" altLang="ko-KR" dirty="0" smtClean="0"/>
              <a:t>(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추적 시작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add hello.html         // </a:t>
            </a:r>
            <a:r>
              <a:rPr lang="ko-KR" altLang="en-US" dirty="0" smtClean="0"/>
              <a:t>응답 메시지가 없으면 성공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1719476"/>
            <a:ext cx="7200000" cy="285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기본 명령어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변경된 파일을 저장소에 제출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2"/>
            <a:r>
              <a:rPr lang="ko-KR" altLang="en-US" dirty="0" smtClean="0"/>
              <a:t>위 명령을 실행하면</a:t>
            </a:r>
            <a:r>
              <a:rPr lang="en-US" altLang="ko-KR" dirty="0" smtClean="0"/>
              <a:t>, </a:t>
            </a:r>
            <a:r>
              <a:rPr lang="en-US" altLang="ko-KR" dirty="0"/>
              <a:t>c</a:t>
            </a:r>
            <a:r>
              <a:rPr lang="en-US" altLang="ko-KR" dirty="0" smtClean="0"/>
              <a:t>ommit </a:t>
            </a:r>
            <a:r>
              <a:rPr lang="ko-KR" altLang="en-US" dirty="0" smtClean="0"/>
              <a:t>메시지 저장을 위해 자동으로 </a:t>
            </a:r>
            <a:r>
              <a:rPr lang="en-US" altLang="ko-KR" dirty="0" smtClean="0"/>
              <a:t>vim </a:t>
            </a:r>
            <a:r>
              <a:rPr lang="ko-KR" altLang="en-US" dirty="0" smtClean="0"/>
              <a:t>편집기가 실행됨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‘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‘ </a:t>
            </a:r>
            <a:r>
              <a:rPr lang="ko-KR" altLang="en-US" dirty="0" smtClean="0"/>
              <a:t>키 입력 후 첫 줄에 </a:t>
            </a:r>
            <a:r>
              <a:rPr lang="en-US" altLang="ko-KR" dirty="0" smtClean="0"/>
              <a:t>‘made hello.html in master’ </a:t>
            </a:r>
            <a:r>
              <a:rPr lang="ko-KR" altLang="en-US" dirty="0" smtClean="0"/>
              <a:t>입력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‘ESC’ </a:t>
            </a:r>
            <a:r>
              <a:rPr lang="ko-KR" altLang="en-US" dirty="0" smtClean="0"/>
              <a:t>키 누르고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‘:</a:t>
            </a:r>
            <a:r>
              <a:rPr lang="en-US" altLang="ko-KR" dirty="0" err="1" smtClean="0"/>
              <a:t>wq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입력 후 </a:t>
            </a:r>
            <a:r>
              <a:rPr lang="ko-KR" altLang="en-US" dirty="0" err="1" smtClean="0"/>
              <a:t>엔터키</a:t>
            </a:r>
            <a:r>
              <a:rPr lang="ko-KR" altLang="en-US" dirty="0" smtClean="0"/>
              <a:t> 누르면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이 완료되고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메시지 출력</a:t>
            </a:r>
          </a:p>
          <a:p>
            <a:pPr lvl="1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7" y="1662458"/>
            <a:ext cx="7200000" cy="25032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23976" b="33260"/>
          <a:stretch/>
        </p:blipFill>
        <p:spPr>
          <a:xfrm>
            <a:off x="945497" y="5581931"/>
            <a:ext cx="7200000" cy="614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044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기본폴더에</a:t>
            </a:r>
            <a:r>
              <a:rPr lang="ko-KR" altLang="en-US" dirty="0" smtClean="0"/>
              <a:t> 자신의 영문이름으로 작업 폴더를 만들고 저장소로 초기화한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폴더 내에 </a:t>
            </a:r>
            <a:r>
              <a:rPr lang="en-US" altLang="ko-KR" dirty="0" smtClean="0"/>
              <a:t>vim</a:t>
            </a:r>
            <a:r>
              <a:rPr lang="ko-KR" altLang="en-US" dirty="0" smtClean="0"/>
              <a:t> 편집기를 이용하여 새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파일을 </a:t>
            </a:r>
            <a:r>
              <a:rPr lang="ko-KR" altLang="en-US" dirty="0" err="1" smtClean="0"/>
              <a:t>생성하시오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생성된 새 </a:t>
            </a:r>
            <a:r>
              <a:rPr lang="en-US" altLang="ko-KR" dirty="0" smtClean="0"/>
              <a:t>html </a:t>
            </a:r>
            <a:r>
              <a:rPr lang="ko-KR" altLang="en-US" dirty="0" smtClean="0"/>
              <a:t>파일에 대하여 저장소 상태 확인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저장소에 파일 </a:t>
            </a:r>
            <a:r>
              <a:rPr lang="en-US" altLang="ko-KR" dirty="0" smtClean="0"/>
              <a:t>add</a:t>
            </a:r>
            <a:r>
              <a:rPr lang="ko-KR" altLang="en-US" dirty="0" smtClean="0"/>
              <a:t>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하시오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418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브랜치</a:t>
            </a:r>
            <a:r>
              <a:rPr lang="ko-KR" altLang="en-US" dirty="0" smtClean="0"/>
              <a:t> 생성 및 사용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왜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생성이 필요한가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기존</a:t>
            </a:r>
            <a:r>
              <a:rPr lang="en-US" altLang="ko-KR" dirty="0" smtClean="0"/>
              <a:t> </a:t>
            </a:r>
            <a:r>
              <a:rPr lang="ko-KR" altLang="en-US" dirty="0" smtClean="0"/>
              <a:t>문서에 영향을 주지 않으면서 문서를 수정 또는 업그레이드 하고 싶을 때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프로젝트의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브랜치</a:t>
            </a:r>
            <a:r>
              <a:rPr lang="ko-KR" altLang="en-US" dirty="0" smtClean="0"/>
              <a:t> 그래프 예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브랜치</a:t>
            </a:r>
            <a:r>
              <a:rPr lang="ko-KR" altLang="en-US" dirty="0" smtClean="0"/>
              <a:t> 사용을 위한 </a:t>
            </a:r>
            <a:r>
              <a:rPr lang="en-US" altLang="ko-KR" dirty="0" smtClean="0"/>
              <a:t>branch </a:t>
            </a:r>
            <a:r>
              <a:rPr lang="ko-KR" altLang="en-US" dirty="0" smtClean="0"/>
              <a:t>명령어</a:t>
            </a:r>
            <a:endParaRPr lang="en-US" altLang="ko-KR" dirty="0" smtClean="0"/>
          </a:p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49636"/>
              </p:ext>
            </p:extLst>
          </p:nvPr>
        </p:nvGraphicFramePr>
        <p:xfrm>
          <a:off x="728673" y="4549643"/>
          <a:ext cx="7633649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503">
                  <a:extLst>
                    <a:ext uri="{9D8B030D-6E8A-4147-A177-3AD203B41FA5}">
                      <a16:colId xmlns:a16="http://schemas.microsoft.com/office/drawing/2014/main" val="1979929853"/>
                    </a:ext>
                  </a:extLst>
                </a:gridCol>
                <a:gridCol w="5186146">
                  <a:extLst>
                    <a:ext uri="{9D8B030D-6E8A-4147-A177-3AD203B41FA5}">
                      <a16:colId xmlns:a16="http://schemas.microsoft.com/office/drawing/2014/main" val="1767566315"/>
                    </a:ext>
                  </a:extLst>
                </a:gridCol>
              </a:tblGrid>
              <a:tr h="2989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명령어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설명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34750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branch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err="1" smtClean="0"/>
                        <a:t>브랜치명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err="1" smtClean="0"/>
                        <a:t>브랜치명</a:t>
                      </a:r>
                      <a:r>
                        <a:rPr lang="en-US" altLang="ko-KR" sz="1600" dirty="0" smtClean="0"/>
                        <a:t>’</a:t>
                      </a:r>
                      <a:r>
                        <a:rPr lang="ko-KR" altLang="en-US" sz="1600" dirty="0" smtClean="0"/>
                        <a:t>의 </a:t>
                      </a:r>
                      <a:r>
                        <a:rPr lang="ko-KR" altLang="en-US" sz="1600" dirty="0" err="1" smtClean="0"/>
                        <a:t>브랜치를</a:t>
                      </a:r>
                      <a:r>
                        <a:rPr lang="ko-KR" altLang="en-US" sz="1600" dirty="0" smtClean="0"/>
                        <a:t> 만듦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36657"/>
                  </a:ext>
                </a:extLst>
              </a:tr>
              <a:tr h="3140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checkout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err="1" smtClean="0"/>
                        <a:t>브랜치명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현재 작업을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err="1" smtClean="0"/>
                        <a:t>브랜치명</a:t>
                      </a:r>
                      <a:r>
                        <a:rPr lang="en-US" altLang="ko-KR" sz="1600" dirty="0" smtClean="0"/>
                        <a:t>’</a:t>
                      </a:r>
                      <a:r>
                        <a:rPr lang="ko-KR" altLang="en-US" sz="1600" dirty="0" smtClean="0"/>
                        <a:t>에서 진행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955782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git</a:t>
                      </a:r>
                      <a:r>
                        <a:rPr lang="en-US" altLang="ko-KR" sz="1600" dirty="0" smtClean="0"/>
                        <a:t> merge </a:t>
                      </a:r>
                      <a:r>
                        <a:rPr lang="ko-KR" altLang="en-US" sz="1600" dirty="0" err="1" smtClean="0"/>
                        <a:t>브랜치명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현재 작업 중인 </a:t>
                      </a:r>
                      <a:r>
                        <a:rPr lang="ko-KR" altLang="en-US" sz="1600" dirty="0" err="1" smtClean="0"/>
                        <a:t>브랜치에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err="1" smtClean="0"/>
                        <a:t>브랜치명</a:t>
                      </a:r>
                      <a:r>
                        <a:rPr lang="en-US" altLang="ko-KR" sz="1600" dirty="0" smtClean="0"/>
                        <a:t>‘</a:t>
                      </a:r>
                      <a:r>
                        <a:rPr lang="ko-KR" altLang="en-US" sz="1600" dirty="0" smtClean="0"/>
                        <a:t>의 </a:t>
                      </a:r>
                      <a:r>
                        <a:rPr lang="ko-KR" altLang="en-US" sz="1600" dirty="0" err="1" smtClean="0"/>
                        <a:t>브랜치를</a:t>
                      </a:r>
                      <a:r>
                        <a:rPr lang="ko-KR" altLang="en-US" sz="1600" dirty="0" smtClean="0"/>
                        <a:t> 가져와 병합</a:t>
                      </a:r>
                      <a:endParaRPr lang="en-US" altLang="ko-KR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192461"/>
                  </a:ext>
                </a:extLst>
              </a:tr>
            </a:tbl>
          </a:graphicData>
        </a:graphic>
      </p:graphicFrame>
      <p:pic>
        <p:nvPicPr>
          <p:cNvPr id="7" name="Picture 4" descr="우린 Git-flow를 사용하고 있어요 - 우아한형제들 기술 블로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575" y="1886530"/>
            <a:ext cx="5283686" cy="187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3859760" y="1886530"/>
            <a:ext cx="731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ko-KR" dirty="0" smtClean="0"/>
              <a:t>master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2650401" y="3102443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ko-KR" altLang="en-US" smtClean="0"/>
              <a:t>새브랜치들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11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원형 화살표 11"/>
          <p:cNvSpPr/>
          <p:nvPr/>
        </p:nvSpPr>
        <p:spPr>
          <a:xfrm rot="13358728">
            <a:off x="1775696" y="1640064"/>
            <a:ext cx="5239354" cy="5229291"/>
          </a:xfrm>
          <a:prstGeom prst="circularArrow">
            <a:avLst>
              <a:gd name="adj1" fmla="val 7242"/>
              <a:gd name="adj2" fmla="val 1433489"/>
              <a:gd name="adj3" fmla="val 21328301"/>
              <a:gd name="adj4" fmla="val 3303565"/>
              <a:gd name="adj5" fmla="val 142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브랜치</a:t>
            </a:r>
            <a:r>
              <a:rPr lang="ko-KR" altLang="en-US" dirty="0"/>
              <a:t> 생성 및 사용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브랜치</a:t>
            </a:r>
            <a:r>
              <a:rPr lang="ko-KR" altLang="en-US" dirty="0" smtClean="0"/>
              <a:t> 사용을 통한 작업 흐름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새 </a:t>
            </a:r>
            <a:r>
              <a:rPr lang="ko-KR" altLang="en-US" dirty="0" err="1" smtClean="0"/>
              <a:t>브랜치</a:t>
            </a:r>
            <a:r>
              <a:rPr lang="en-US" altLang="ko-KR" dirty="0" smtClean="0"/>
              <a:t>(</a:t>
            </a:r>
            <a:r>
              <a:rPr lang="en-US" altLang="ko-KR" dirty="0"/>
              <a:t>Branch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생성하여 원래 작업에 영향을 주지않고 새 작업 흐름을 만들 수 있음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628711" y="1946864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새 </a:t>
            </a:r>
            <a:r>
              <a:rPr lang="ko-KR" altLang="en-US" dirty="0" err="1" smtClean="0">
                <a:solidFill>
                  <a:schemeClr val="tx1"/>
                </a:solidFill>
              </a:rPr>
              <a:t>브랜치</a:t>
            </a:r>
            <a:r>
              <a:rPr lang="ko-KR" altLang="en-US" dirty="0" smtClean="0">
                <a:solidFill>
                  <a:schemeClr val="tx1"/>
                </a:solidFill>
              </a:rPr>
              <a:t> 생성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607636" y="2820321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새 </a:t>
            </a:r>
            <a:r>
              <a:rPr lang="ko-KR" altLang="en-US" dirty="0" err="1" smtClean="0">
                <a:solidFill>
                  <a:schemeClr val="tx1"/>
                </a:solidFill>
              </a:rPr>
              <a:t>브랜치로</a:t>
            </a:r>
            <a:r>
              <a:rPr lang="ko-KR" altLang="en-US" dirty="0" smtClean="0">
                <a:solidFill>
                  <a:schemeClr val="tx1"/>
                </a:solidFill>
              </a:rPr>
              <a:t> 체크아웃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607636" y="4321639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파일 생성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</a:rPr>
              <a:t>수정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813678" y="5560175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파일 추가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656576" y="5560175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수정 내역을 새 </a:t>
            </a:r>
            <a:r>
              <a:rPr lang="ko-KR" altLang="en-US" dirty="0" err="1" smtClean="0">
                <a:solidFill>
                  <a:schemeClr val="tx1"/>
                </a:solidFill>
              </a:rPr>
              <a:t>브랜치</a:t>
            </a:r>
            <a:r>
              <a:rPr lang="ko-KR" altLang="en-US" dirty="0" smtClean="0">
                <a:solidFill>
                  <a:schemeClr val="tx1"/>
                </a:solidFill>
              </a:rPr>
              <a:t> 저장소에 제출</a:t>
            </a:r>
            <a:r>
              <a:rPr lang="en-US" altLang="ko-KR" dirty="0" smtClean="0">
                <a:solidFill>
                  <a:schemeClr val="tx1"/>
                </a:solidFill>
              </a:rPr>
              <a:t>(commit)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676326" y="4337395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master </a:t>
            </a:r>
            <a:r>
              <a:rPr lang="ko-KR" altLang="en-US" dirty="0" err="1" smtClean="0">
                <a:solidFill>
                  <a:schemeClr val="tx1"/>
                </a:solidFill>
              </a:rPr>
              <a:t>브랜치로</a:t>
            </a:r>
            <a:r>
              <a:rPr lang="ko-KR" altLang="en-US" dirty="0" smtClean="0">
                <a:solidFill>
                  <a:schemeClr val="tx1"/>
                </a:solidFill>
              </a:rPr>
              <a:t> 체크아웃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676326" y="2841169"/>
            <a:ext cx="1587916" cy="6325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master </a:t>
            </a:r>
            <a:r>
              <a:rPr lang="ko-KR" altLang="en-US" dirty="0" err="1" smtClean="0">
                <a:solidFill>
                  <a:schemeClr val="tx1"/>
                </a:solidFill>
              </a:rPr>
              <a:t>브랜치에</a:t>
            </a:r>
            <a:r>
              <a:rPr lang="ko-KR" altLang="en-US" dirty="0" smtClean="0">
                <a:solidFill>
                  <a:schemeClr val="tx1"/>
                </a:solidFill>
              </a:rPr>
              <a:t> 새 </a:t>
            </a:r>
            <a:r>
              <a:rPr lang="ko-KR" altLang="en-US" dirty="0" err="1" smtClean="0">
                <a:solidFill>
                  <a:schemeClr val="tx1"/>
                </a:solidFill>
              </a:rPr>
              <a:t>브랜치를</a:t>
            </a:r>
            <a:r>
              <a:rPr lang="ko-KR" altLang="en-US" dirty="0" smtClean="0">
                <a:solidFill>
                  <a:schemeClr val="tx1"/>
                </a:solidFill>
              </a:rPr>
              <a:t> 합침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50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새로운 브랜치 생성과 이동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 smtClean="0"/>
              <a:t>브랜치</a:t>
            </a:r>
            <a:r>
              <a:rPr lang="ko-KR" altLang="en-US" dirty="0" smtClean="0"/>
              <a:t> 보기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branch     // </a:t>
            </a:r>
            <a:r>
              <a:rPr lang="ko-KR" altLang="en-US" dirty="0" smtClean="0"/>
              <a:t>현재 어떤 </a:t>
            </a:r>
            <a:r>
              <a:rPr lang="ko-KR" altLang="en-US" dirty="0" err="1" smtClean="0"/>
              <a:t>브랜치들이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있는지와</a:t>
            </a:r>
            <a:r>
              <a:rPr lang="ko-KR" altLang="en-US" dirty="0" smtClean="0"/>
              <a:t> 현재 작업 </a:t>
            </a:r>
            <a:r>
              <a:rPr lang="ko-KR" altLang="en-US" dirty="0" err="1" smtClean="0"/>
              <a:t>브랜치</a:t>
            </a:r>
            <a:r>
              <a:rPr lang="en-US" altLang="ko-KR" dirty="0" smtClean="0"/>
              <a:t>(*)</a:t>
            </a:r>
            <a:r>
              <a:rPr lang="ko-KR" altLang="en-US" dirty="0" smtClean="0"/>
              <a:t>를 보여줌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새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생성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branch </a:t>
            </a:r>
            <a:r>
              <a:rPr lang="ko-KR" altLang="en-US" dirty="0" err="1" smtClean="0"/>
              <a:t>브랜치명</a:t>
            </a:r>
            <a:r>
              <a:rPr lang="ko-KR" altLang="en-US" dirty="0" smtClean="0"/>
              <a:t>   </a:t>
            </a:r>
            <a:r>
              <a:rPr lang="en-US" altLang="ko-KR" dirty="0" smtClean="0"/>
              <a:t>// ‘</a:t>
            </a:r>
            <a:r>
              <a:rPr lang="ko-KR" altLang="en-US" dirty="0" err="1" smtClean="0"/>
              <a:t>브랜치명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의 새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생성해줌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branch hotfix       // </a:t>
            </a:r>
            <a:r>
              <a:rPr lang="ko-KR" altLang="en-US" dirty="0" smtClean="0"/>
              <a:t>예로</a:t>
            </a:r>
            <a:r>
              <a:rPr lang="en-US" altLang="ko-KR" dirty="0" smtClean="0"/>
              <a:t>, hotfix</a:t>
            </a:r>
            <a:r>
              <a:rPr lang="ko-KR" altLang="en-US" dirty="0" smtClean="0"/>
              <a:t>라는 새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생성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17129"/>
          <a:stretch/>
        </p:blipFill>
        <p:spPr>
          <a:xfrm>
            <a:off x="945498" y="3277239"/>
            <a:ext cx="7200000" cy="23339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설명선 1 4"/>
          <p:cNvSpPr/>
          <p:nvPr/>
        </p:nvSpPr>
        <p:spPr>
          <a:xfrm>
            <a:off x="3292916" y="5093174"/>
            <a:ext cx="856006" cy="463381"/>
          </a:xfrm>
          <a:prstGeom prst="borderCallout1">
            <a:avLst>
              <a:gd name="adj1" fmla="val 34045"/>
              <a:gd name="adj2" fmla="val -1504"/>
              <a:gd name="adj3" fmla="val 72948"/>
              <a:gd name="adj4" fmla="val -18565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현재 작업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브랜치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9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새로운 </a:t>
            </a:r>
            <a:r>
              <a:rPr lang="ko-KR" altLang="en-US" dirty="0" err="1"/>
              <a:t>브랜치</a:t>
            </a:r>
            <a:r>
              <a:rPr lang="ko-KR" altLang="en-US" dirty="0"/>
              <a:t> 생성과 이동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현재 작업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이동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checkout hotfix      // </a:t>
            </a:r>
            <a:r>
              <a:rPr lang="ko-KR" altLang="en-US" dirty="0" smtClean="0"/>
              <a:t>현재 작업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</a:t>
            </a:r>
            <a:r>
              <a:rPr lang="en-US" altLang="ko-KR" dirty="0" smtClean="0"/>
              <a:t>hotfix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새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생성과 현재 작업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이동을 한꺼번에 가능 </a:t>
            </a:r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checkout –b </a:t>
            </a:r>
            <a:r>
              <a:rPr lang="ko-KR" altLang="en-US" dirty="0" err="1" smtClean="0"/>
              <a:t>브랜치명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1769375"/>
            <a:ext cx="7200000" cy="2302041"/>
          </a:xfrm>
          <a:prstGeom prst="rect">
            <a:avLst/>
          </a:prstGeom>
        </p:spPr>
      </p:pic>
      <p:sp>
        <p:nvSpPr>
          <p:cNvPr id="5" name="설명선 1 4"/>
          <p:cNvSpPr/>
          <p:nvPr/>
        </p:nvSpPr>
        <p:spPr>
          <a:xfrm>
            <a:off x="6404604" y="3163983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125121"/>
              <a:gd name="adj4" fmla="val -9857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작업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브랜치가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r>
              <a:rPr lang="en-US" altLang="ko-KR" sz="1200" dirty="0" smtClean="0">
                <a:solidFill>
                  <a:schemeClr val="tx1"/>
                </a:solidFill>
              </a:rPr>
              <a:t>hotfix</a:t>
            </a:r>
            <a:r>
              <a:rPr lang="ko-KR" altLang="en-US" sz="1200" dirty="0" smtClean="0">
                <a:solidFill>
                  <a:schemeClr val="tx1"/>
                </a:solidFill>
              </a:rPr>
              <a:t>로 수정됨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61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새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파일 수정 작업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master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작업한 파일을 불러와 새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수정 가능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pPr lvl="1"/>
            <a:r>
              <a:rPr lang="en-US" altLang="ko-KR" dirty="0" smtClean="0"/>
              <a:t>hotfix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파일 수정은 </a:t>
            </a:r>
            <a:r>
              <a:rPr lang="en-US" altLang="ko-KR" dirty="0" smtClean="0"/>
              <a:t>master </a:t>
            </a:r>
            <a:r>
              <a:rPr lang="ko-KR" altLang="en-US" dirty="0" err="1" smtClean="0"/>
              <a:t>브랜치에</a:t>
            </a:r>
            <a:r>
              <a:rPr lang="ko-KR" altLang="en-US" dirty="0" smtClean="0"/>
              <a:t> 있는 파일에는 전혀 영향을 주지 않음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40" y="1302375"/>
            <a:ext cx="7200000" cy="14448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40" y="2994530"/>
            <a:ext cx="7200000" cy="2473469"/>
          </a:xfrm>
          <a:prstGeom prst="rect">
            <a:avLst/>
          </a:prstGeom>
        </p:spPr>
      </p:pic>
      <p:sp>
        <p:nvSpPr>
          <p:cNvPr id="8" name="설명선 1 7"/>
          <p:cNvSpPr/>
          <p:nvPr/>
        </p:nvSpPr>
        <p:spPr>
          <a:xfrm>
            <a:off x="6227183" y="4345663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66810"/>
              <a:gd name="adj4" fmla="val -127229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 행을 추가하고 저장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36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 </a:t>
            </a:r>
            <a:r>
              <a:rPr lang="ko-KR" altLang="en-US" dirty="0" err="1"/>
              <a:t>브랜치에서</a:t>
            </a:r>
            <a:r>
              <a:rPr lang="ko-KR" altLang="en-US" dirty="0"/>
              <a:t> 파일 </a:t>
            </a:r>
            <a:r>
              <a:rPr lang="ko-KR" altLang="en-US" dirty="0" smtClean="0"/>
              <a:t>추가 및 제출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저장소에 파일 추가 및 </a:t>
            </a:r>
            <a:r>
              <a:rPr lang="en-US" altLang="ko-KR" dirty="0" smtClean="0"/>
              <a:t>commit </a:t>
            </a:r>
            <a:r>
              <a:rPr lang="ko-KR" altLang="en-US" dirty="0" smtClean="0"/>
              <a:t>작업 필요 </a:t>
            </a:r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add </a:t>
            </a:r>
            <a:r>
              <a:rPr lang="en-US" altLang="ko-KR" dirty="0" smtClean="0"/>
              <a:t>hello.html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저장소에 파일 추가 및 </a:t>
            </a:r>
            <a:r>
              <a:rPr lang="en-US" altLang="ko-KR" dirty="0"/>
              <a:t>commit </a:t>
            </a:r>
            <a:r>
              <a:rPr lang="ko-KR" altLang="en-US" dirty="0" smtClean="0"/>
              <a:t>작업을 한번에 처리 가능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 –a</a:t>
            </a:r>
          </a:p>
          <a:p>
            <a:pPr lvl="2"/>
            <a:r>
              <a:rPr lang="ko-KR" altLang="en-US" dirty="0"/>
              <a:t>위 명령을 실행하면</a:t>
            </a:r>
            <a:r>
              <a:rPr lang="en-US" altLang="ko-KR" dirty="0"/>
              <a:t>, commit </a:t>
            </a:r>
            <a:r>
              <a:rPr lang="ko-KR" altLang="en-US" dirty="0"/>
              <a:t>메시지 저장을 위해 자동으로 </a:t>
            </a:r>
            <a:r>
              <a:rPr lang="en-US" altLang="ko-KR" dirty="0"/>
              <a:t>vim </a:t>
            </a:r>
            <a:r>
              <a:rPr lang="ko-KR" altLang="en-US" dirty="0"/>
              <a:t>편집기가 실행됨</a:t>
            </a:r>
            <a:endParaRPr lang="en-US" altLang="ko-KR" dirty="0"/>
          </a:p>
          <a:p>
            <a:pPr lvl="2"/>
            <a:r>
              <a:rPr lang="en-US" altLang="ko-KR" dirty="0"/>
              <a:t>‘</a:t>
            </a:r>
            <a:r>
              <a:rPr lang="en-US" altLang="ko-KR" dirty="0" err="1"/>
              <a:t>i</a:t>
            </a:r>
            <a:r>
              <a:rPr lang="en-US" altLang="ko-KR" dirty="0"/>
              <a:t>‘ </a:t>
            </a:r>
            <a:r>
              <a:rPr lang="ko-KR" altLang="en-US" dirty="0"/>
              <a:t>키 입력 후 첫 줄에 </a:t>
            </a:r>
            <a:r>
              <a:rPr lang="en-US" altLang="ko-KR" dirty="0" smtClean="0"/>
              <a:t>‘added Hello </a:t>
            </a:r>
            <a:r>
              <a:rPr lang="en-US" altLang="ko-KR" dirty="0" err="1" smtClean="0"/>
              <a:t>Tongmyong</a:t>
            </a:r>
            <a:r>
              <a:rPr lang="en-US" altLang="ko-KR" dirty="0"/>
              <a:t> </a:t>
            </a:r>
            <a:r>
              <a:rPr lang="en-US" altLang="ko-KR" dirty="0" smtClean="0"/>
              <a:t>in hotfix’ </a:t>
            </a:r>
            <a:r>
              <a:rPr lang="ko-KR" altLang="en-US" dirty="0"/>
              <a:t>입력</a:t>
            </a:r>
            <a:endParaRPr lang="en-US" altLang="ko-KR" dirty="0"/>
          </a:p>
          <a:p>
            <a:pPr lvl="2"/>
            <a:r>
              <a:rPr lang="en-US" altLang="ko-KR" dirty="0"/>
              <a:t>‘ESC’ </a:t>
            </a:r>
            <a:r>
              <a:rPr lang="ko-KR" altLang="en-US" dirty="0"/>
              <a:t>키 누르고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‘:</a:t>
            </a:r>
            <a:r>
              <a:rPr lang="en-US" altLang="ko-KR" dirty="0" err="1"/>
              <a:t>wq</a:t>
            </a:r>
            <a:r>
              <a:rPr lang="en-US" altLang="ko-KR" dirty="0"/>
              <a:t>’ </a:t>
            </a:r>
            <a:r>
              <a:rPr lang="ko-KR" altLang="en-US" dirty="0"/>
              <a:t>입력한 다음 </a:t>
            </a:r>
            <a:r>
              <a:rPr lang="en-US" altLang="ko-KR" dirty="0"/>
              <a:t>‘Enter’ </a:t>
            </a:r>
            <a:r>
              <a:rPr lang="ko-KR" altLang="en-US" dirty="0"/>
              <a:t>키 누르면 </a:t>
            </a:r>
            <a:r>
              <a:rPr lang="en-US" altLang="ko-KR" dirty="0"/>
              <a:t>Commit</a:t>
            </a:r>
            <a:r>
              <a:rPr lang="ko-KR" altLang="en-US" dirty="0"/>
              <a:t>이 완료되고</a:t>
            </a:r>
            <a:r>
              <a:rPr lang="en-US" altLang="ko-KR" dirty="0"/>
              <a:t>, </a:t>
            </a:r>
            <a:r>
              <a:rPr lang="ko-KR" altLang="en-US" dirty="0"/>
              <a:t>메시지 출력</a:t>
            </a:r>
          </a:p>
          <a:p>
            <a:pPr lvl="2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18" y="4313051"/>
            <a:ext cx="7200000" cy="2130612"/>
          </a:xfrm>
          <a:prstGeom prst="rect">
            <a:avLst/>
          </a:prstGeom>
        </p:spPr>
      </p:pic>
      <p:sp>
        <p:nvSpPr>
          <p:cNvPr id="5" name="설명선 1 4"/>
          <p:cNvSpPr/>
          <p:nvPr/>
        </p:nvSpPr>
        <p:spPr>
          <a:xfrm>
            <a:off x="6227183" y="4345663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85224"/>
              <a:gd name="adj4" fmla="val -195570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 행을 추가하고 저장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71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 </a:t>
            </a:r>
            <a:r>
              <a:rPr lang="ko-KR" altLang="en-US" dirty="0" err="1"/>
              <a:t>브랜치에서</a:t>
            </a:r>
            <a:r>
              <a:rPr lang="ko-KR" altLang="en-US" dirty="0"/>
              <a:t> 파일 수정 작업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Commit </a:t>
            </a:r>
            <a:r>
              <a:rPr lang="ko-KR" altLang="en-US" dirty="0" smtClean="0"/>
              <a:t>후 저장소 상태 확인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vim </a:t>
            </a:r>
            <a:r>
              <a:rPr lang="ko-KR" altLang="en-US" dirty="0" smtClean="0"/>
              <a:t>편집기 사용 없이 간단한 </a:t>
            </a:r>
            <a:r>
              <a:rPr lang="en-US" altLang="ko-KR" dirty="0" smtClean="0"/>
              <a:t>commit </a:t>
            </a:r>
            <a:r>
              <a:rPr lang="ko-KR" altLang="en-US" dirty="0" smtClean="0"/>
              <a:t>메시지 넣기 </a:t>
            </a:r>
            <a:r>
              <a:rPr lang="en-US" altLang="ko-KR" dirty="0" smtClean="0"/>
              <a:t>(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 –m “</a:t>
            </a:r>
            <a:r>
              <a:rPr lang="ko-KR" altLang="en-US" dirty="0" err="1" smtClean="0"/>
              <a:t>커밋</a:t>
            </a:r>
            <a:r>
              <a:rPr lang="ko-KR" altLang="en-US" dirty="0" smtClean="0"/>
              <a:t> 메시지</a:t>
            </a:r>
            <a:r>
              <a:rPr lang="en-US" altLang="ko-KR" dirty="0" smtClean="0"/>
              <a:t>“   // commit</a:t>
            </a:r>
            <a:r>
              <a:rPr lang="ko-KR" altLang="en-US" dirty="0" smtClean="0"/>
              <a:t>과 함께 메시지 추가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 -am “</a:t>
            </a:r>
            <a:r>
              <a:rPr lang="ko-KR" altLang="en-US" dirty="0" err="1" smtClean="0"/>
              <a:t>커밋</a:t>
            </a:r>
            <a:r>
              <a:rPr lang="ko-KR" altLang="en-US" dirty="0" smtClean="0"/>
              <a:t> 메시지</a:t>
            </a:r>
            <a:r>
              <a:rPr lang="en-US" altLang="ko-KR" dirty="0" smtClean="0"/>
              <a:t>” // </a:t>
            </a:r>
            <a:r>
              <a:rPr lang="ko-KR" altLang="en-US" dirty="0" smtClean="0"/>
              <a:t>파일 추가</a:t>
            </a:r>
            <a:r>
              <a:rPr lang="en-US" altLang="ko-KR" dirty="0" smtClean="0"/>
              <a:t>, commit, </a:t>
            </a:r>
            <a:r>
              <a:rPr lang="ko-KR" altLang="en-US" dirty="0" smtClean="0"/>
              <a:t>메시지 추가를 모두 처리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1320562"/>
            <a:ext cx="7200000" cy="247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0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자신이 선택한 이름으로 새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생성한 후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앞의 예제와 같이 </a:t>
            </a:r>
            <a:r>
              <a:rPr lang="ko-KR" altLang="en-US" dirty="0" smtClean="0"/>
              <a:t>새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순서대로 작업을 </a:t>
            </a:r>
            <a:r>
              <a:rPr lang="ko-KR" altLang="en-US" dirty="0" err="1" smtClean="0"/>
              <a:t>수행하시오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파일 내용도 수정 가능</a:t>
            </a:r>
            <a:r>
              <a:rPr lang="en-US" altLang="ko-KR" dirty="0" smtClean="0"/>
              <a:t>)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6762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master </a:t>
            </a:r>
            <a:r>
              <a:rPr lang="ko-KR" altLang="en-US" dirty="0" err="1" smtClean="0"/>
              <a:t>브랜치와</a:t>
            </a:r>
            <a:r>
              <a:rPr lang="ko-KR" altLang="en-US" dirty="0" smtClean="0"/>
              <a:t> 병합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현재 작업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checkout </a:t>
            </a:r>
            <a:r>
              <a:rPr lang="en-US" altLang="ko-KR" dirty="0" smtClean="0"/>
              <a:t>master    // </a:t>
            </a:r>
            <a:r>
              <a:rPr lang="ko-KR" altLang="en-US" dirty="0" smtClean="0"/>
              <a:t>작업 </a:t>
            </a:r>
            <a:r>
              <a:rPr lang="ko-KR" altLang="en-US" dirty="0" err="1" smtClean="0"/>
              <a:t>브랜치를</a:t>
            </a:r>
            <a:r>
              <a:rPr lang="ko-KR" altLang="en-US" dirty="0" smtClean="0"/>
              <a:t>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로 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branch            // </a:t>
            </a:r>
            <a:r>
              <a:rPr lang="ko-KR" altLang="en-US" dirty="0" smtClean="0"/>
              <a:t>작업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확인</a:t>
            </a:r>
            <a:endParaRPr lang="en-US" altLang="ko-KR" dirty="0"/>
          </a:p>
          <a:p>
            <a:pPr lvl="1"/>
            <a:r>
              <a:rPr lang="en-US" altLang="ko-KR" dirty="0" smtClean="0"/>
              <a:t>$ cat hello.html       // hotfix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작업한 내용이 아직 반영 안됨을 확인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2427336"/>
            <a:ext cx="7200000" cy="4016327"/>
          </a:xfrm>
          <a:prstGeom prst="rect">
            <a:avLst/>
          </a:prstGeom>
        </p:spPr>
      </p:pic>
      <p:sp>
        <p:nvSpPr>
          <p:cNvPr id="6" name="설명선 1 5"/>
          <p:cNvSpPr/>
          <p:nvPr/>
        </p:nvSpPr>
        <p:spPr>
          <a:xfrm>
            <a:off x="3336979" y="3772457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69879"/>
              <a:gd name="adj4" fmla="val -134945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현재 작업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브랜치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설명선 1 6"/>
          <p:cNvSpPr/>
          <p:nvPr/>
        </p:nvSpPr>
        <p:spPr>
          <a:xfrm>
            <a:off x="4108449" y="4650546"/>
            <a:ext cx="1695451" cy="453243"/>
          </a:xfrm>
          <a:prstGeom prst="borderCallout1">
            <a:avLst>
              <a:gd name="adj1" fmla="val 29392"/>
              <a:gd name="adj2" fmla="val -2469"/>
              <a:gd name="adj3" fmla="val -5776"/>
              <a:gd name="adj4" fmla="val -101986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cat</a:t>
            </a:r>
            <a:r>
              <a:rPr lang="ko-KR" altLang="en-US" sz="1200" dirty="0" smtClean="0">
                <a:solidFill>
                  <a:schemeClr val="tx1"/>
                </a:solidFill>
              </a:rPr>
              <a:t>은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파일내용을</a:t>
            </a:r>
            <a:r>
              <a:rPr lang="ko-KR" altLang="en-US" sz="1200" dirty="0" smtClean="0">
                <a:solidFill>
                  <a:schemeClr val="tx1"/>
                </a:solidFill>
              </a:rPr>
              <a:t> 화면상에 보여줌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52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master </a:t>
            </a:r>
            <a:r>
              <a:rPr lang="ko-KR" altLang="en-US" dirty="0" err="1" smtClean="0"/>
              <a:t>브랜치와</a:t>
            </a:r>
            <a:r>
              <a:rPr lang="ko-KR" altLang="en-US" dirty="0" smtClean="0"/>
              <a:t> 병합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새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 내용을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가져와 </a:t>
            </a:r>
            <a:r>
              <a:rPr lang="ko-KR" altLang="en-US" dirty="0"/>
              <a:t>병합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merge hotfix</a:t>
            </a:r>
            <a:r>
              <a:rPr lang="ko-KR" altLang="en-US" dirty="0" smtClean="0"/>
              <a:t>      </a:t>
            </a:r>
            <a:r>
              <a:rPr lang="en-US" altLang="ko-KR" dirty="0" smtClean="0"/>
              <a:t>// hotfix</a:t>
            </a:r>
            <a:r>
              <a:rPr lang="ko-KR" altLang="en-US" dirty="0" smtClean="0"/>
              <a:t>에서 작업한 내용을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hello.html</a:t>
            </a:r>
            <a:r>
              <a:rPr lang="ko-KR" altLang="en-US" dirty="0" smtClean="0"/>
              <a:t>에 병합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/>
              <a:t>cat hello.html          // hotfix </a:t>
            </a:r>
            <a:r>
              <a:rPr lang="ko-KR" altLang="en-US" dirty="0" err="1"/>
              <a:t>브랜치에서</a:t>
            </a:r>
            <a:r>
              <a:rPr lang="ko-KR" altLang="en-US" dirty="0"/>
              <a:t> 작업한 내용이 </a:t>
            </a:r>
            <a:r>
              <a:rPr lang="ko-KR" altLang="en-US" dirty="0" smtClean="0"/>
              <a:t>반영되어</a:t>
            </a:r>
            <a:r>
              <a:rPr lang="en-US" altLang="ko-KR" dirty="0" smtClean="0"/>
              <a:t> </a:t>
            </a:r>
            <a:r>
              <a:rPr lang="ko-KR" altLang="en-US" dirty="0" smtClean="0"/>
              <a:t>있음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25057"/>
          <a:stretch/>
        </p:blipFill>
        <p:spPr>
          <a:xfrm>
            <a:off x="945498" y="1725304"/>
            <a:ext cx="7200000" cy="1468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b="16339"/>
          <a:stretch/>
        </p:blipFill>
        <p:spPr>
          <a:xfrm>
            <a:off x="945498" y="3834880"/>
            <a:ext cx="7200000" cy="2499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3437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앞의 </a:t>
            </a:r>
            <a:r>
              <a:rPr lang="ko-KR" altLang="en-US" dirty="0"/>
              <a:t>예제와 같이 </a:t>
            </a:r>
            <a:r>
              <a:rPr lang="en-US" altLang="ko-KR" dirty="0" smtClean="0"/>
              <a:t>master</a:t>
            </a:r>
            <a:r>
              <a:rPr lang="ko-KR" altLang="en-US" smtClean="0"/>
              <a:t>에 </a:t>
            </a:r>
            <a:r>
              <a:rPr lang="ko-KR" altLang="en-US" dirty="0" smtClean="0"/>
              <a:t>새 </a:t>
            </a:r>
            <a:r>
              <a:rPr lang="ko-KR" altLang="en-US" dirty="0" err="1"/>
              <a:t>브랜치에서</a:t>
            </a:r>
            <a:r>
              <a:rPr lang="ko-KR" altLang="en-US" dirty="0"/>
              <a:t> </a:t>
            </a:r>
            <a:r>
              <a:rPr lang="ko-KR" altLang="en-US" dirty="0" smtClean="0"/>
              <a:t>수정한 파일을 병합하도록 순서대로 </a:t>
            </a:r>
            <a:r>
              <a:rPr lang="ko-KR" altLang="en-US" dirty="0"/>
              <a:t>작업을 </a:t>
            </a:r>
            <a:r>
              <a:rPr lang="ko-KR" altLang="en-US" dirty="0" err="1"/>
              <a:t>수행하시오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3270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브랜치의</a:t>
            </a:r>
            <a:r>
              <a:rPr lang="ko-KR" altLang="en-US" dirty="0" smtClean="0"/>
              <a:t> 독립성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master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파일을 계속 수정 및 </a:t>
            </a:r>
            <a:r>
              <a:rPr lang="en-US" altLang="ko-KR" dirty="0" smtClean="0"/>
              <a:t>commit</a:t>
            </a:r>
          </a:p>
          <a:p>
            <a:pPr lvl="1"/>
            <a:r>
              <a:rPr lang="en-US" altLang="ko-KR" dirty="0" smtClean="0"/>
              <a:t>$ vim hello.html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 –am “added Hello Security in master”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1746771"/>
            <a:ext cx="7200000" cy="2816327"/>
          </a:xfrm>
          <a:prstGeom prst="rect">
            <a:avLst/>
          </a:prstGeom>
        </p:spPr>
      </p:pic>
      <p:sp>
        <p:nvSpPr>
          <p:cNvPr id="7" name="설명선 1 6"/>
          <p:cNvSpPr/>
          <p:nvPr/>
        </p:nvSpPr>
        <p:spPr>
          <a:xfrm>
            <a:off x="6199888" y="3286815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66810"/>
              <a:gd name="adj4" fmla="val -127229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 행을 추가하고 저장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32464"/>
          <a:stretch/>
        </p:blipFill>
        <p:spPr>
          <a:xfrm>
            <a:off x="945498" y="5186363"/>
            <a:ext cx="7200000" cy="10916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5927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각 </a:t>
            </a:r>
            <a:r>
              <a:rPr lang="ko-KR" altLang="en-US" dirty="0" err="1" smtClean="0"/>
              <a:t>브랜치의</a:t>
            </a:r>
            <a:r>
              <a:rPr lang="ko-KR" altLang="en-US" dirty="0" smtClean="0"/>
              <a:t> 독립성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hotfix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파일을 계속 수정 및 </a:t>
            </a:r>
            <a:r>
              <a:rPr lang="en-US" altLang="ko-KR" dirty="0" smtClean="0"/>
              <a:t>commit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checkout hotfix   // hotfix</a:t>
            </a:r>
            <a:r>
              <a:rPr lang="ko-KR" altLang="en-US" dirty="0" smtClean="0"/>
              <a:t>로 작업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cat hello.html         // </a:t>
            </a:r>
            <a:r>
              <a:rPr lang="ko-KR" altLang="en-US" dirty="0" smtClean="0">
                <a:solidFill>
                  <a:srgbClr val="FF0000"/>
                </a:solidFill>
              </a:rPr>
              <a:t>파일 내용 확인</a:t>
            </a:r>
            <a:r>
              <a:rPr lang="en-US" altLang="ko-KR" dirty="0" smtClean="0">
                <a:solidFill>
                  <a:srgbClr val="FF0000"/>
                </a:solidFill>
              </a:rPr>
              <a:t>, hotfix</a:t>
            </a:r>
            <a:r>
              <a:rPr lang="ko-KR" altLang="en-US" dirty="0" smtClean="0">
                <a:solidFill>
                  <a:srgbClr val="FF0000"/>
                </a:solidFill>
              </a:rPr>
              <a:t>에서 수정한 내용임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>
                <a:solidFill>
                  <a:srgbClr val="FF0000"/>
                </a:solidFill>
              </a:rPr>
              <a:t>각 </a:t>
            </a:r>
            <a:r>
              <a:rPr lang="ko-KR" altLang="en-US" dirty="0" err="1" smtClean="0">
                <a:solidFill>
                  <a:srgbClr val="FF0000"/>
                </a:solidFill>
              </a:rPr>
              <a:t>브랜치의</a:t>
            </a:r>
            <a:r>
              <a:rPr lang="ko-KR" altLang="en-US" dirty="0" smtClean="0">
                <a:solidFill>
                  <a:srgbClr val="FF0000"/>
                </a:solidFill>
              </a:rPr>
              <a:t> 내용을 독립적으로 계속 유지하면서 수정 가능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/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b="15931"/>
          <a:stretch/>
        </p:blipFill>
        <p:spPr>
          <a:xfrm>
            <a:off x="945498" y="2114806"/>
            <a:ext cx="7200000" cy="25117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24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 </a:t>
            </a:r>
            <a:r>
              <a:rPr lang="ko-KR" altLang="en-US" dirty="0" err="1"/>
              <a:t>브랜치의</a:t>
            </a:r>
            <a:r>
              <a:rPr lang="ko-KR" altLang="en-US" dirty="0"/>
              <a:t> 독립성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hotfix </a:t>
            </a:r>
            <a:r>
              <a:rPr lang="ko-KR" altLang="en-US" dirty="0" err="1"/>
              <a:t>브랜치에서</a:t>
            </a:r>
            <a:r>
              <a:rPr lang="ko-KR" altLang="en-US" dirty="0"/>
              <a:t> 파일을 계속 수정 및 </a:t>
            </a:r>
            <a:r>
              <a:rPr lang="en-US" altLang="ko-KR" dirty="0"/>
              <a:t>commit</a:t>
            </a:r>
          </a:p>
          <a:p>
            <a:pPr lvl="1"/>
            <a:r>
              <a:rPr lang="en-US" altLang="ko-KR" dirty="0" smtClean="0"/>
              <a:t>$ vim hello.html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git</a:t>
            </a:r>
            <a:r>
              <a:rPr lang="en-US" altLang="ko-KR" dirty="0"/>
              <a:t> commit –am </a:t>
            </a:r>
            <a:r>
              <a:rPr lang="en-US" altLang="ko-KR" dirty="0" smtClean="0"/>
              <a:t>“added Hello </a:t>
            </a:r>
            <a:r>
              <a:rPr lang="en-US" altLang="ko-KR" dirty="0" err="1" smtClean="0"/>
              <a:t>Gildong</a:t>
            </a:r>
            <a:r>
              <a:rPr lang="en-US" altLang="ko-KR" dirty="0" smtClean="0"/>
              <a:t> in hotfix”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1708551"/>
            <a:ext cx="7200000" cy="2644898"/>
          </a:xfrm>
          <a:prstGeom prst="rect">
            <a:avLst/>
          </a:prstGeom>
        </p:spPr>
      </p:pic>
      <p:sp>
        <p:nvSpPr>
          <p:cNvPr id="8" name="설명선 1 7"/>
          <p:cNvSpPr/>
          <p:nvPr/>
        </p:nvSpPr>
        <p:spPr>
          <a:xfrm>
            <a:off x="6145296" y="3259519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66810"/>
              <a:gd name="adj4" fmla="val -127229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이 행을 추가하고 저장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b="30775"/>
          <a:stretch/>
        </p:blipFill>
        <p:spPr>
          <a:xfrm>
            <a:off x="945498" y="5233703"/>
            <a:ext cx="7200000" cy="11189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321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각 </a:t>
            </a:r>
            <a:r>
              <a:rPr lang="ko-KR" altLang="en-US" dirty="0" err="1"/>
              <a:t>브랜치의</a:t>
            </a:r>
            <a:r>
              <a:rPr lang="ko-KR" altLang="en-US" dirty="0"/>
              <a:t> 독립성을 확인하기 위하여 앞의 예제와 같이 순서대로 작업을 </a:t>
            </a:r>
            <a:r>
              <a:rPr lang="ko-KR" altLang="en-US" dirty="0" err="1" smtClean="0"/>
              <a:t>수행하시오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7297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불필요한 파일 및 폴더 무시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.</a:t>
            </a:r>
            <a:r>
              <a:rPr lang="en-US" altLang="ko-KR" dirty="0" err="1" smtClean="0"/>
              <a:t>gitignore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불필요한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파일이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저장소에 추가되는 것을 방지해 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추적할 필요할 없는 파일명들을 이 파일에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기록함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예</a:t>
            </a:r>
            <a:r>
              <a:rPr lang="en-US" altLang="ko-KR" dirty="0" smtClean="0"/>
              <a:t>) </a:t>
            </a:r>
            <a:r>
              <a:rPr lang="ko-KR" altLang="en-US" dirty="0" smtClean="0"/>
              <a:t>입출력 데이터 파일</a:t>
            </a:r>
            <a:r>
              <a:rPr lang="en-US" altLang="ko-KR" dirty="0" smtClean="0"/>
              <a:t>,</a:t>
            </a:r>
            <a:r>
              <a:rPr lang="ko-KR" altLang="en-US" dirty="0" smtClean="0"/>
              <a:t> 로그 파일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프로젝트 관리 파일 등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.</a:t>
            </a:r>
            <a:r>
              <a:rPr lang="en-US" altLang="ko-KR" dirty="0" err="1" smtClean="0"/>
              <a:t>gitignore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생성 및 확인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4049"/>
          <a:stretch/>
        </p:blipFill>
        <p:spPr>
          <a:xfrm>
            <a:off x="945498" y="3090508"/>
            <a:ext cx="7200000" cy="3010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설명선 1 4"/>
          <p:cNvSpPr/>
          <p:nvPr/>
        </p:nvSpPr>
        <p:spPr>
          <a:xfrm>
            <a:off x="6063410" y="3608684"/>
            <a:ext cx="1306381" cy="444701"/>
          </a:xfrm>
          <a:prstGeom prst="borderCallout1">
            <a:avLst>
              <a:gd name="adj1" fmla="val 29392"/>
              <a:gd name="adj2" fmla="val -2469"/>
              <a:gd name="adj3" fmla="val 26913"/>
              <a:gd name="adj4" fmla="val -280446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빈 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r>
              <a:rPr lang="en-US" altLang="ko-KR" sz="1200" dirty="0" err="1" smtClean="0">
                <a:solidFill>
                  <a:schemeClr val="tx1"/>
                </a:solidFill>
              </a:rPr>
              <a:t>gitignore</a:t>
            </a:r>
            <a:r>
              <a:rPr lang="en-US" altLang="ko-KR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파일을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생성해줌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설명선 1 5"/>
          <p:cNvSpPr/>
          <p:nvPr/>
        </p:nvSpPr>
        <p:spPr>
          <a:xfrm>
            <a:off x="6379583" y="5084917"/>
            <a:ext cx="1306381" cy="444701"/>
          </a:xfrm>
          <a:prstGeom prst="borderCallout1">
            <a:avLst>
              <a:gd name="adj1" fmla="val 29392"/>
              <a:gd name="adj2" fmla="val -2469"/>
              <a:gd name="adj3" fmla="val 137396"/>
              <a:gd name="adj4" fmla="val -24494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‘.’</a:t>
            </a:r>
            <a:r>
              <a:rPr lang="ko-KR" altLang="en-US" sz="1200" dirty="0" smtClean="0">
                <a:solidFill>
                  <a:schemeClr val="tx1"/>
                </a:solidFill>
              </a:rPr>
              <a:t>으로 시작된 파일은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숨김파일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35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불필요한 파일 및 폴더 무시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/>
              <a:t>파일 </a:t>
            </a:r>
            <a:r>
              <a:rPr lang="ko-KR" altLang="en-US" dirty="0" smtClean="0"/>
              <a:t>내용 자동 생성 웹사이트</a:t>
            </a:r>
            <a:endParaRPr lang="en-US" altLang="ko-KR" dirty="0" smtClean="0"/>
          </a:p>
          <a:p>
            <a:pPr lvl="1"/>
            <a:r>
              <a:rPr lang="en-US" altLang="ko-KR" dirty="0" smtClean="0">
                <a:hlinkClick r:id="rId2"/>
              </a:rPr>
              <a:t>https://www.gitignore.io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검색</a:t>
            </a:r>
            <a:r>
              <a:rPr lang="en-US" altLang="ko-KR" dirty="0" smtClean="0"/>
              <a:t> </a:t>
            </a:r>
            <a:r>
              <a:rPr lang="ko-KR" altLang="en-US" dirty="0" smtClean="0"/>
              <a:t>창에 </a:t>
            </a:r>
            <a:r>
              <a:rPr lang="ko-KR" altLang="en-US" dirty="0" err="1" smtClean="0"/>
              <a:t>운영체제명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개발툴명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프로그램언어명을 입력하고 생성 버튼을 클릭하면 </a:t>
            </a:r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 smtClean="0"/>
              <a:t>파일 내용을 자동 생성 해줌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내용을 복사한 후</a:t>
            </a:r>
            <a:r>
              <a:rPr lang="en-US" altLang="ko-KR" dirty="0" smtClean="0"/>
              <a:t>, </a:t>
            </a:r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 smtClean="0"/>
              <a:t>파일에 넣어주면 됨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5209" t="43015" r="7952" b="3970"/>
          <a:stretch/>
        </p:blipFill>
        <p:spPr>
          <a:xfrm>
            <a:off x="1952423" y="1774208"/>
            <a:ext cx="5186150" cy="30298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323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불필요한 파일 및 폴더 무시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7149" y="773705"/>
            <a:ext cx="8963994" cy="5669958"/>
          </a:xfrm>
        </p:spPr>
        <p:txBody>
          <a:bodyPr/>
          <a:lstStyle/>
          <a:p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 smtClean="0"/>
              <a:t>파일 내용 복사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vim .</a:t>
            </a:r>
            <a:r>
              <a:rPr lang="en-US" altLang="ko-KR" dirty="0" err="1" smtClean="0"/>
              <a:t>gitignore</a:t>
            </a:r>
            <a:r>
              <a:rPr lang="en-US" altLang="ko-KR" dirty="0"/>
              <a:t> </a:t>
            </a:r>
            <a:r>
              <a:rPr lang="en-US" altLang="ko-KR" dirty="0" smtClean="0"/>
              <a:t>   // ‘</a:t>
            </a:r>
            <a:r>
              <a:rPr lang="en-US" altLang="ko-KR" dirty="0" err="1" smtClean="0"/>
              <a:t>i</a:t>
            </a:r>
            <a:r>
              <a:rPr lang="en-US" altLang="ko-KR" dirty="0" smtClean="0"/>
              <a:t>’</a:t>
            </a:r>
            <a:r>
              <a:rPr lang="ko-KR" altLang="en-US" dirty="0"/>
              <a:t>를</a:t>
            </a:r>
            <a:r>
              <a:rPr lang="ko-KR" altLang="en-US" dirty="0" smtClean="0"/>
              <a:t> 입력 후 앞에서 복사한 내용을 </a:t>
            </a:r>
            <a:r>
              <a:rPr lang="ko-KR" altLang="en-US" dirty="0" err="1" smtClean="0"/>
              <a:t>붙여넣어</a:t>
            </a:r>
            <a:r>
              <a:rPr lang="ko-KR" altLang="en-US" dirty="0" smtClean="0"/>
              <a:t> 주면 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윈도우에서 메모장을 사용하여 파일 내용 수정 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.</a:t>
            </a:r>
            <a:r>
              <a:rPr lang="en-US" altLang="ko-KR" dirty="0" err="1" smtClean="0"/>
              <a:t>gitignore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추가 및 </a:t>
            </a:r>
            <a:r>
              <a:rPr lang="en-US" altLang="ko-KR" dirty="0" smtClean="0"/>
              <a:t>commit</a:t>
            </a:r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add .</a:t>
            </a:r>
            <a:r>
              <a:rPr lang="en-US" altLang="ko-KR" dirty="0" err="1" smtClean="0"/>
              <a:t>gitignore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 –m “added .</a:t>
            </a:r>
            <a:r>
              <a:rPr lang="en-US" altLang="ko-KR" dirty="0" err="1" smtClean="0"/>
              <a:t>gitignore</a:t>
            </a:r>
            <a:r>
              <a:rPr lang="en-US" altLang="ko-KR" dirty="0" smtClean="0"/>
              <a:t> file”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8170"/>
          <a:stretch/>
        </p:blipFill>
        <p:spPr>
          <a:xfrm>
            <a:off x="959146" y="3608684"/>
            <a:ext cx="7200000" cy="21643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3012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앞의 자동 </a:t>
            </a:r>
            <a:r>
              <a:rPr lang="ko-KR" altLang="en-US" dirty="0"/>
              <a:t>생성 </a:t>
            </a:r>
            <a:r>
              <a:rPr lang="ko-KR" altLang="en-US" dirty="0" smtClean="0"/>
              <a:t>웹사이트를 이용해 </a:t>
            </a:r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 smtClean="0"/>
              <a:t>파일을 </a:t>
            </a:r>
            <a:r>
              <a:rPr lang="ko-KR" altLang="en-US" dirty="0" err="1" smtClean="0"/>
              <a:t>생성하시오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93662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3449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병합 시 충돌 해결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충돌</a:t>
            </a:r>
            <a:r>
              <a:rPr lang="en-US" altLang="ko-KR" dirty="0" smtClean="0"/>
              <a:t>(Conflict)</a:t>
            </a:r>
            <a:r>
              <a:rPr lang="ko-KR" altLang="en-US" dirty="0" smtClean="0"/>
              <a:t> 해결이란</a:t>
            </a:r>
            <a:r>
              <a:rPr lang="en-US" altLang="ko-KR" dirty="0" smtClean="0"/>
              <a:t>?</a:t>
            </a:r>
          </a:p>
          <a:p>
            <a:pPr lvl="1"/>
            <a:r>
              <a:rPr lang="ko-KR" altLang="en-US" dirty="0" smtClean="0"/>
              <a:t>두 개의 </a:t>
            </a:r>
            <a:r>
              <a:rPr lang="ko-KR" altLang="en-US" dirty="0" err="1" smtClean="0"/>
              <a:t>브랜치에서</a:t>
            </a:r>
            <a:r>
              <a:rPr lang="ko-KR" altLang="en-US" dirty="0" smtClean="0"/>
              <a:t> 동시에 같은 파일의 같은 곳을 수정했다면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병합할 때 충돌이 발생되는데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이를 해결해 주어야 함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앞 예제를 이용한 충돌 발생 확인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checkout master   // master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변경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merge hotfix        // hotfix</a:t>
            </a:r>
            <a:r>
              <a:rPr lang="ko-KR" altLang="en-US" dirty="0" smtClean="0"/>
              <a:t>에서 수정한 내용을 병합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8568"/>
          <a:stretch/>
        </p:blipFill>
        <p:spPr>
          <a:xfrm>
            <a:off x="945498" y="3526798"/>
            <a:ext cx="7200000" cy="20141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설명선 1 4"/>
          <p:cNvSpPr/>
          <p:nvPr/>
        </p:nvSpPr>
        <p:spPr>
          <a:xfrm>
            <a:off x="4166370" y="5742681"/>
            <a:ext cx="1238141" cy="444701"/>
          </a:xfrm>
          <a:prstGeom prst="borderCallout1">
            <a:avLst>
              <a:gd name="adj1" fmla="val 29392"/>
              <a:gd name="adj2" fmla="val -2469"/>
              <a:gd name="adj3" fmla="val -74363"/>
              <a:gd name="adj4" fmla="val -125024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충돌 발생으로 병합 실패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39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병합 시 충돌 </a:t>
            </a:r>
            <a:r>
              <a:rPr lang="ko-KR" altLang="en-US" dirty="0"/>
              <a:t>해결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충돌이 발생한 파일 내용 확인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2921"/>
          <a:stretch/>
        </p:blipFill>
        <p:spPr>
          <a:xfrm>
            <a:off x="1395875" y="1360370"/>
            <a:ext cx="7200000" cy="33481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설명선 1 4"/>
          <p:cNvSpPr/>
          <p:nvPr/>
        </p:nvSpPr>
        <p:spPr>
          <a:xfrm>
            <a:off x="322809" y="3133663"/>
            <a:ext cx="856006" cy="250984"/>
          </a:xfrm>
          <a:prstGeom prst="borderCallout1">
            <a:avLst>
              <a:gd name="adj1" fmla="val 105890"/>
              <a:gd name="adj2" fmla="val 56523"/>
              <a:gd name="adj3" fmla="val 159458"/>
              <a:gd name="adj4" fmla="val 123695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충돌 시작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설명선 1 5"/>
          <p:cNvSpPr/>
          <p:nvPr/>
        </p:nvSpPr>
        <p:spPr>
          <a:xfrm>
            <a:off x="313901" y="4457495"/>
            <a:ext cx="856006" cy="250984"/>
          </a:xfrm>
          <a:prstGeom prst="borderCallout1">
            <a:avLst>
              <a:gd name="adj1" fmla="val 2573"/>
              <a:gd name="adj2" fmla="val 64494"/>
              <a:gd name="adj3" fmla="val -85239"/>
              <a:gd name="adj4" fmla="val 118912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충돌 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설명선 1 6"/>
          <p:cNvSpPr/>
          <p:nvPr/>
        </p:nvSpPr>
        <p:spPr>
          <a:xfrm>
            <a:off x="331351" y="3763932"/>
            <a:ext cx="856006" cy="250984"/>
          </a:xfrm>
          <a:prstGeom prst="borderCallout1">
            <a:avLst>
              <a:gd name="adj1" fmla="val 2573"/>
              <a:gd name="adj2" fmla="val 101164"/>
              <a:gd name="adj3" fmla="val 50703"/>
              <a:gd name="adj4" fmla="val 130072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충돌 경계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설명선 1 7"/>
          <p:cNvSpPr/>
          <p:nvPr/>
        </p:nvSpPr>
        <p:spPr>
          <a:xfrm>
            <a:off x="5634060" y="2276129"/>
            <a:ext cx="1121581" cy="398834"/>
          </a:xfrm>
          <a:prstGeom prst="borderCallout1">
            <a:avLst>
              <a:gd name="adj1" fmla="val -2864"/>
              <a:gd name="adj2" fmla="val 29419"/>
              <a:gd name="adj3" fmla="val -93114"/>
              <a:gd name="adj4" fmla="val 8902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충돌 발생을 알려줌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26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병합 시 충돌 해결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충돌 해결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사용자는 충돌이 발생한 파일 내용을 확인한 후 어떻게 수정할 지 결정해야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충돌이 난 두 </a:t>
            </a:r>
            <a:r>
              <a:rPr lang="ko-KR" altLang="en-US" dirty="0" err="1" smtClean="0"/>
              <a:t>브랜치</a:t>
            </a:r>
            <a:r>
              <a:rPr lang="ko-KR" altLang="en-US" dirty="0" smtClean="0"/>
              <a:t> 중에서 하나의 내용을 선택하거나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두 수정 내역을 합치는 등 수동으로 충돌을 해결해 주어야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여기서는 충돌이 발생한 내용을 하나로 합치도록 함</a:t>
            </a:r>
            <a:r>
              <a:rPr lang="en-US" altLang="ko-KR" dirty="0" smtClean="0"/>
              <a:t>(vim hello.html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commit –am “resolved conflict”   // </a:t>
            </a:r>
            <a:r>
              <a:rPr lang="ko-KR" altLang="en-US" dirty="0" smtClean="0"/>
              <a:t>파일 추가와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해주어야 함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8" y="2730973"/>
            <a:ext cx="7200000" cy="29877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t="60423" r="28800" b="5518"/>
          <a:stretch/>
        </p:blipFill>
        <p:spPr>
          <a:xfrm>
            <a:off x="3956050" y="5009045"/>
            <a:ext cx="4959894" cy="984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설명선 1 5"/>
          <p:cNvSpPr/>
          <p:nvPr/>
        </p:nvSpPr>
        <p:spPr>
          <a:xfrm>
            <a:off x="6435997" y="4107976"/>
            <a:ext cx="1193102" cy="578024"/>
          </a:xfrm>
          <a:prstGeom prst="borderCallout1">
            <a:avLst>
              <a:gd name="adj1" fmla="val 103215"/>
              <a:gd name="adj2" fmla="val 47671"/>
              <a:gd name="adj3" fmla="val 290929"/>
              <a:gd name="adj4" fmla="val 118832"/>
            </a:avLst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충돌이 </a:t>
            </a:r>
            <a:r>
              <a:rPr lang="ko-KR" altLang="en-US" sz="1200" smtClean="0">
                <a:solidFill>
                  <a:schemeClr val="tx1"/>
                </a:solidFill>
              </a:rPr>
              <a:t>해결되어 </a:t>
            </a:r>
            <a:r>
              <a:rPr lang="en-US" altLang="ko-KR" sz="1200" dirty="0" smtClean="0">
                <a:solidFill>
                  <a:schemeClr val="tx1"/>
                </a:solidFill>
              </a:rPr>
              <a:t>master</a:t>
            </a:r>
            <a:r>
              <a:rPr lang="ko-KR" altLang="en-US" sz="1200" dirty="0" smtClean="0">
                <a:solidFill>
                  <a:schemeClr val="tx1"/>
                </a:solidFill>
              </a:rPr>
              <a:t>로</a:t>
            </a:r>
            <a:r>
              <a:rPr lang="en-US" altLang="ko-KR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변경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320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9. </a:t>
            </a:r>
            <a:r>
              <a:rPr lang="ko-KR" altLang="en-US" dirty="0" smtClean="0"/>
              <a:t>앞의 예제와 같이 순서대로 작업을 수행해서</a:t>
            </a:r>
            <a:r>
              <a:rPr lang="en-US" altLang="ko-KR" dirty="0" smtClean="0"/>
              <a:t>,</a:t>
            </a:r>
            <a:r>
              <a:rPr lang="ko-KR" altLang="en-US" dirty="0" smtClean="0"/>
              <a:t> 충돌 발생을 확인하고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충돌을 </a:t>
            </a:r>
            <a:r>
              <a:rPr lang="ko-KR" altLang="en-US" dirty="0" err="1" smtClean="0"/>
              <a:t>해결하시오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8328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기록 보기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git</a:t>
            </a:r>
            <a:r>
              <a:rPr lang="en-US" altLang="ko-KR" dirty="0" smtClean="0"/>
              <a:t> log </a:t>
            </a:r>
            <a:r>
              <a:rPr lang="ko-KR" altLang="en-US" dirty="0" smtClean="0"/>
              <a:t>명령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여러 작업 또는 여러 사람들이 작업했을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누가</a:t>
            </a:r>
            <a:r>
              <a:rPr lang="en-US" altLang="ko-KR" dirty="0" smtClean="0"/>
              <a:t>,</a:t>
            </a:r>
            <a:r>
              <a:rPr lang="ko-KR" altLang="en-US" dirty="0" smtClean="0"/>
              <a:t> 언제</a:t>
            </a:r>
            <a:r>
              <a:rPr lang="en-US" altLang="ko-KR" dirty="0" smtClean="0"/>
              <a:t>,</a:t>
            </a:r>
            <a:r>
              <a:rPr lang="ko-KR" altLang="en-US" dirty="0" smtClean="0"/>
              <a:t> 어떤 작업 후에 커밋했는지 확인할 수 있음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272053"/>
              </p:ext>
            </p:extLst>
          </p:nvPr>
        </p:nvGraphicFramePr>
        <p:xfrm>
          <a:off x="674081" y="2024795"/>
          <a:ext cx="774283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080">
                  <a:extLst>
                    <a:ext uri="{9D8B030D-6E8A-4147-A177-3AD203B41FA5}">
                      <a16:colId xmlns:a16="http://schemas.microsoft.com/office/drawing/2014/main" val="1979929853"/>
                    </a:ext>
                  </a:extLst>
                </a:gridCol>
                <a:gridCol w="5398754">
                  <a:extLst>
                    <a:ext uri="{9D8B030D-6E8A-4147-A177-3AD203B41FA5}">
                      <a16:colId xmlns:a16="http://schemas.microsoft.com/office/drawing/2014/main" val="1767566315"/>
                    </a:ext>
                  </a:extLst>
                </a:gridCol>
              </a:tblGrid>
              <a:tr h="2989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명령어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설명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34750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/>
                        <a:t>git</a:t>
                      </a:r>
                      <a:r>
                        <a:rPr lang="en-US" altLang="ko-KR" sz="1800" dirty="0" smtClean="0"/>
                        <a:t> log -p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각 </a:t>
                      </a:r>
                      <a:r>
                        <a:rPr lang="ko-KR" altLang="en-US" sz="1800" dirty="0" err="1" smtClean="0"/>
                        <a:t>커밋에</a:t>
                      </a:r>
                      <a:r>
                        <a:rPr lang="ko-KR" altLang="en-US" sz="1800" dirty="0" smtClean="0"/>
                        <a:t> 적용된 실제 변경 내용을 보여줌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36657"/>
                  </a:ext>
                </a:extLst>
              </a:tr>
              <a:tr h="3140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/>
                        <a:t>git</a:t>
                      </a:r>
                      <a:r>
                        <a:rPr lang="en-US" altLang="ko-KR" sz="1800" dirty="0" smtClean="0"/>
                        <a:t> log --word-diff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diff </a:t>
                      </a:r>
                      <a:r>
                        <a:rPr lang="ko-KR" altLang="en-US" sz="1800" dirty="0" smtClean="0"/>
                        <a:t>명령의 </a:t>
                      </a:r>
                      <a:r>
                        <a:rPr lang="ko-KR" altLang="en-US" sz="1800" dirty="0" err="1" smtClean="0"/>
                        <a:t>실행결과를</a:t>
                      </a:r>
                      <a:r>
                        <a:rPr lang="ko-KR" altLang="en-US" sz="1800" dirty="0" smtClean="0"/>
                        <a:t> 단어 단위로 보여줌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955782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err="1" smtClean="0"/>
                        <a:t>git</a:t>
                      </a:r>
                      <a:r>
                        <a:rPr lang="en-US" altLang="ko-KR" sz="1800" dirty="0" smtClean="0"/>
                        <a:t> log --stat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smtClean="0"/>
                        <a:t>각 </a:t>
                      </a:r>
                      <a:r>
                        <a:rPr lang="ko-KR" altLang="en-US" sz="1800" dirty="0" err="1" smtClean="0"/>
                        <a:t>커밋에서</a:t>
                      </a:r>
                      <a:r>
                        <a:rPr lang="ko-KR" altLang="en-US" sz="1800" dirty="0" smtClean="0"/>
                        <a:t> 수정된 파일의 통계 정보를 보여줌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192461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dirty="0" err="1" smtClean="0"/>
                        <a:t>git</a:t>
                      </a:r>
                      <a:r>
                        <a:rPr lang="en-US" altLang="ko-KR" sz="1800" dirty="0" smtClean="0"/>
                        <a:t> log --name-only</a:t>
                      </a:r>
                      <a:endParaRPr lang="ko-KR" alt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/>
                        <a:t>커밋</a:t>
                      </a:r>
                      <a:r>
                        <a:rPr lang="ko-KR" altLang="en-US" sz="1800" dirty="0" smtClean="0"/>
                        <a:t> 정보 중에서 수정된 파일의 목록만 보여줌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262020"/>
                  </a:ext>
                </a:extLst>
              </a:tr>
              <a:tr h="322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dirty="0" err="1" smtClean="0"/>
                        <a:t>git</a:t>
                      </a:r>
                      <a:r>
                        <a:rPr lang="en-US" altLang="ko-KR" sz="1800" dirty="0" smtClean="0"/>
                        <a:t> log --relative-date</a:t>
                      </a:r>
                      <a:endParaRPr lang="ko-KR" alt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 smtClean="0"/>
                        <a:t>1</a:t>
                      </a:r>
                      <a:r>
                        <a:rPr lang="ko-KR" altLang="en-US" sz="1800" dirty="0" smtClean="0"/>
                        <a:t>일전</a:t>
                      </a:r>
                      <a:r>
                        <a:rPr lang="en-US" altLang="ko-KR" sz="1800" dirty="0" smtClean="0"/>
                        <a:t>, 1</a:t>
                      </a:r>
                      <a:r>
                        <a:rPr lang="ko-KR" altLang="en-US" sz="1800" dirty="0" smtClean="0"/>
                        <a:t>주전 처럼 상대적인 시간으로 보여줌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195440"/>
                  </a:ext>
                </a:extLst>
              </a:tr>
              <a:tr h="298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dirty="0" err="1" smtClean="0">
                          <a:solidFill>
                            <a:srgbClr val="FF0000"/>
                          </a:solidFill>
                        </a:rPr>
                        <a:t>git</a:t>
                      </a:r>
                      <a:r>
                        <a:rPr lang="en-US" altLang="ko-KR" sz="1800" dirty="0" smtClean="0">
                          <a:solidFill>
                            <a:srgbClr val="FF0000"/>
                          </a:solidFill>
                        </a:rPr>
                        <a:t> log --graph</a:t>
                      </a:r>
                      <a:endParaRPr lang="ko-KR" altLang="en-US" sz="180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 err="1" smtClean="0">
                          <a:solidFill>
                            <a:srgbClr val="FF0000"/>
                          </a:solidFill>
                        </a:rPr>
                        <a:t>브랜치</a:t>
                      </a:r>
                      <a:r>
                        <a:rPr lang="ko-KR" altLang="en-US" sz="1800" dirty="0" smtClean="0">
                          <a:solidFill>
                            <a:srgbClr val="FF0000"/>
                          </a:solidFill>
                        </a:rPr>
                        <a:t> 분기와 병합 내역을 아스키 그래프로 보여줌</a:t>
                      </a:r>
                      <a:endParaRPr lang="ko-KR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83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7236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기록 보기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그래프로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기록 보기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log --graph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2"/>
            <a:r>
              <a:rPr lang="en-US" altLang="ko-KR" dirty="0" smtClean="0"/>
              <a:t>SAH-1 </a:t>
            </a:r>
            <a:r>
              <a:rPr lang="ko-KR" altLang="en-US" dirty="0" err="1" smtClean="0"/>
              <a:t>체크섬</a:t>
            </a:r>
            <a:r>
              <a:rPr lang="ko-KR" altLang="en-US" dirty="0" smtClean="0"/>
              <a:t> 값</a:t>
            </a:r>
            <a:r>
              <a:rPr lang="en-US" altLang="ko-KR" dirty="0" smtClean="0"/>
              <a:t>, </a:t>
            </a:r>
            <a:r>
              <a:rPr lang="ko-KR" altLang="en-US" dirty="0" smtClean="0"/>
              <a:t>커밋한 사용자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커밋</a:t>
            </a:r>
            <a:r>
              <a:rPr lang="ko-KR" altLang="en-US" dirty="0" smtClean="0"/>
              <a:t> 시각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커밋</a:t>
            </a:r>
            <a:r>
              <a:rPr lang="ko-KR" altLang="en-US" dirty="0" smtClean="0"/>
              <a:t> 메시지 등의 </a:t>
            </a:r>
            <a:r>
              <a:rPr lang="ko-KR" altLang="en-US" dirty="0" err="1" smtClean="0"/>
              <a:t>커밋</a:t>
            </a:r>
            <a:r>
              <a:rPr lang="ko-KR" altLang="en-US" dirty="0" smtClean="0"/>
              <a:t> 내용 확인 가능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왼쪽의 녹색과 빨간색 세로 점선은 </a:t>
            </a:r>
            <a:r>
              <a:rPr lang="ko-KR" altLang="en-US" dirty="0" err="1" smtClean="0"/>
              <a:t>브랜치의</a:t>
            </a:r>
            <a:r>
              <a:rPr lang="ko-KR" altLang="en-US" dirty="0" smtClean="0"/>
              <a:t> 분기 내역을 보여줌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24753"/>
          <a:stretch/>
        </p:blipFill>
        <p:spPr>
          <a:xfrm>
            <a:off x="945498" y="1772158"/>
            <a:ext cx="7200000" cy="37961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41873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Git</a:t>
            </a:r>
            <a:r>
              <a:rPr lang="en-US" altLang="ko-KR" dirty="0"/>
              <a:t> </a:t>
            </a:r>
            <a:r>
              <a:rPr lang="ko-KR" altLang="en-US" dirty="0"/>
              <a:t>기록 보기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$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log --stat</a:t>
            </a:r>
          </a:p>
          <a:p>
            <a:pPr lvl="1"/>
            <a:r>
              <a:rPr lang="ko-KR" altLang="en-US" dirty="0" smtClean="0"/>
              <a:t>각 </a:t>
            </a:r>
            <a:r>
              <a:rPr lang="ko-KR" altLang="en-US" dirty="0" err="1" smtClean="0"/>
              <a:t>커밋에서</a:t>
            </a:r>
            <a:r>
              <a:rPr lang="ko-KR" altLang="en-US" dirty="0" smtClean="0"/>
              <a:t> 수정된 파일의 통계 정보를 보여줌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3023"/>
          <a:stretch/>
        </p:blipFill>
        <p:spPr>
          <a:xfrm>
            <a:off x="945498" y="1767253"/>
            <a:ext cx="7200000" cy="43878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59387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실습문제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10. </a:t>
            </a:r>
            <a:r>
              <a:rPr lang="ko-KR" altLang="en-US" dirty="0" smtClean="0"/>
              <a:t>앞의 예제와 같이 몇가지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옵션을 수행하여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의 기록을 </a:t>
            </a:r>
            <a:r>
              <a:rPr lang="ko-KR" altLang="en-US" dirty="0" err="1" smtClean="0"/>
              <a:t>확인하시</a:t>
            </a:r>
            <a:r>
              <a:rPr lang="ko-KR" altLang="en-US" dirty="0" err="1" smtClean="0"/>
              <a:t>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72113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3584</TotalTime>
  <Words>2051</Words>
  <Application>Microsoft Office PowerPoint</Application>
  <PresentationFormat>화면 슬라이드 쇼(4:3)</PresentationFormat>
  <Paragraphs>508</Paragraphs>
  <Slides>49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8" baseType="lpstr">
      <vt:lpstr>HY헤드라인M</vt:lpstr>
      <vt:lpstr>Noto Sans Symbols</vt:lpstr>
      <vt:lpstr>굴림</vt:lpstr>
      <vt:lpstr>Dotum</vt:lpstr>
      <vt:lpstr>맑은 고딕</vt:lpstr>
      <vt:lpstr>맑은 고딕</vt:lpstr>
      <vt:lpstr>휴먼명조</vt:lpstr>
      <vt:lpstr>Arial</vt:lpstr>
      <vt:lpstr>1_Office 테마</vt:lpstr>
      <vt:lpstr>동명대학교 이성운 교수</vt:lpstr>
      <vt:lpstr>Contents</vt:lpstr>
      <vt:lpstr>버전 관리 시스템</vt:lpstr>
      <vt:lpstr>중앙 집중식 버전 관리 시스템</vt:lpstr>
      <vt:lpstr>분산 버전 관리 시스템</vt:lpstr>
      <vt:lpstr>Git 개요</vt:lpstr>
      <vt:lpstr>Git 개요</vt:lpstr>
      <vt:lpstr>Git 설치</vt:lpstr>
      <vt:lpstr>Git 설치</vt:lpstr>
      <vt:lpstr>Git 실행 및 기본 설정</vt:lpstr>
      <vt:lpstr>실습문제</vt:lpstr>
      <vt:lpstr>Git 흐름 및 작업 순서</vt:lpstr>
      <vt:lpstr>Git 기본 명령어</vt:lpstr>
      <vt:lpstr>Git 기본 명령어</vt:lpstr>
      <vt:lpstr>Git 기본 명령어</vt:lpstr>
      <vt:lpstr>필요한 명령어</vt:lpstr>
      <vt:lpstr>Git 기본 명령어</vt:lpstr>
      <vt:lpstr>Git 기본 명령어</vt:lpstr>
      <vt:lpstr>Git 기본 명령어</vt:lpstr>
      <vt:lpstr>Git 기본 명령어</vt:lpstr>
      <vt:lpstr>Git 기본 명령어</vt:lpstr>
      <vt:lpstr>실습문제</vt:lpstr>
      <vt:lpstr>브랜치 생성 및 사용</vt:lpstr>
      <vt:lpstr>브랜치 생성 및 사용</vt:lpstr>
      <vt:lpstr>새로운 브랜치 생성과 이동</vt:lpstr>
      <vt:lpstr>새로운 브랜치 생성과 이동</vt:lpstr>
      <vt:lpstr>새 브랜치에서 파일 수정 작업</vt:lpstr>
      <vt:lpstr>새 브랜치에서 파일 추가 및 제출</vt:lpstr>
      <vt:lpstr>새 브랜치에서 파일 수정 작업</vt:lpstr>
      <vt:lpstr>실습문제</vt:lpstr>
      <vt:lpstr>master 브랜치와 병합</vt:lpstr>
      <vt:lpstr>master 브랜치와 병합</vt:lpstr>
      <vt:lpstr>실습문제</vt:lpstr>
      <vt:lpstr>각 브랜치의 독립성</vt:lpstr>
      <vt:lpstr>각 브랜치의 독립성</vt:lpstr>
      <vt:lpstr>각 브랜치의 독립성</vt:lpstr>
      <vt:lpstr>실습문제</vt:lpstr>
      <vt:lpstr>불필요한 파일 및 폴더 무시</vt:lpstr>
      <vt:lpstr>불필요한 파일 및 폴더 무시</vt:lpstr>
      <vt:lpstr>불필요한 파일 및 폴더 무시</vt:lpstr>
      <vt:lpstr>실습문제</vt:lpstr>
      <vt:lpstr>병합 시 충돌 해결</vt:lpstr>
      <vt:lpstr>병합 시 충돌 해결</vt:lpstr>
      <vt:lpstr>병합 시 충돌 해결</vt:lpstr>
      <vt:lpstr>실습문제</vt:lpstr>
      <vt:lpstr>Git 기록 보기</vt:lpstr>
      <vt:lpstr>Git 기록 보기</vt:lpstr>
      <vt:lpstr>Git 기록 보기</vt:lpstr>
      <vt:lpstr>실습문제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272</cp:revision>
  <cp:lastPrinted>2021-09-30T18:56:56Z</cp:lastPrinted>
  <dcterms:modified xsi:type="dcterms:W3CDTF">2022-11-16T03:34:33Z</dcterms:modified>
</cp:coreProperties>
</file>